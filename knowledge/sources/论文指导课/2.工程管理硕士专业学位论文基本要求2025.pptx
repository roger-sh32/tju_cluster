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270" r:id="rId3"/>
    <p:sldId id="257" r:id="rId4"/>
    <p:sldId id="271" r:id="rId5"/>
    <p:sldId id="258" r:id="rId6"/>
    <p:sldId id="259" r:id="rId7"/>
    <p:sldId id="260" r:id="rId8"/>
    <p:sldId id="261" r:id="rId9"/>
    <p:sldId id="262" r:id="rId10"/>
    <p:sldId id="263" r:id="rId11"/>
    <p:sldId id="268" r:id="rId12"/>
    <p:sldId id="274" r:id="rId13"/>
    <p:sldId id="264" r:id="rId14"/>
    <p:sldId id="272" r:id="rId15"/>
    <p:sldId id="273" r:id="rId16"/>
    <p:sldId id="265" r:id="rId17"/>
    <p:sldId id="275" r:id="rId18"/>
    <p:sldId id="276" r:id="rId19"/>
    <p:sldId id="267" r:id="rId20"/>
    <p:sldId id="269"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764" autoAdjust="0"/>
  </p:normalViewPr>
  <p:slideViewPr>
    <p:cSldViewPr>
      <p:cViewPr varScale="1">
        <p:scale>
          <a:sx n="53" d="100"/>
          <a:sy n="53" d="100"/>
        </p:scale>
        <p:origin x="1660" y="44"/>
      </p:cViewPr>
      <p:guideLst>
        <p:guide orient="horz" pos="2160"/>
        <p:guide pos="2880"/>
      </p:guideLst>
    </p:cSldViewPr>
  </p:slideViewPr>
  <p:notesTextViewPr>
    <p:cViewPr>
      <p:scale>
        <a:sx n="100" d="100"/>
        <a:sy n="100" d="100"/>
      </p:scale>
      <p:origin x="0" y="0"/>
    </p:cViewPr>
  </p:notesTextViewPr>
  <p:notesViewPr>
    <p:cSldViewPr>
      <p:cViewPr>
        <p:scale>
          <a:sx n="100" d="100"/>
          <a:sy n="100" d="100"/>
        </p:scale>
        <p:origin x="-1632"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F86749-E1B1-43A5-B25B-3F568C7DE82E}" type="datetimeFigureOut">
              <a:rPr lang="zh-CN" altLang="en-US" smtClean="0"/>
              <a:pPr/>
              <a:t>2025/9/11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D97190-1A81-46A5-8F7E-0C72CC91C7D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baidu.com/link?url=sA6Ir2bDsWILr_RkzvG4IuJT3SWMWK3hRxp9S6UrNlO"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a:t>上海市</a:t>
            </a:r>
            <a:r>
              <a:rPr lang="en-US" altLang="zh-CN" b="1" dirty="0"/>
              <a:t>2018</a:t>
            </a:r>
            <a:r>
              <a:rPr lang="zh-CN" altLang="en-US" b="1" dirty="0"/>
              <a:t>版</a:t>
            </a:r>
            <a:r>
              <a:rPr lang="zh-CN" altLang="en-US" dirty="0"/>
              <a:t>，</a:t>
            </a:r>
            <a:r>
              <a:rPr lang="zh-CN" altLang="en-US" b="1" u="sng" dirty="0"/>
              <a:t>兼顾全国教指委的要求（</a:t>
            </a:r>
            <a:r>
              <a:rPr lang="en-US" altLang="zh-CN" b="1" u="sng" dirty="0"/>
              <a:t>2020</a:t>
            </a:r>
            <a:r>
              <a:rPr lang="zh-CN" altLang="en-US" b="1" u="sng" dirty="0"/>
              <a:t>年）</a:t>
            </a:r>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a:t>要看学位论文中能否体现这些能力，也即通过写论文是为了培养这些能力</a:t>
            </a:r>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baseline="0" dirty="0">
                <a:solidFill>
                  <a:schemeClr val="tx1"/>
                </a:solidFill>
                <a:latin typeface="+mn-lt"/>
                <a:ea typeface="+mn-ea"/>
                <a:cs typeface="+mn-cs"/>
              </a:rPr>
              <a:t>论文实际投入工作量</a:t>
            </a:r>
            <a:r>
              <a:rPr lang="zh-CN" altLang="en-US" sz="1200" b="1" kern="1200" baseline="0" dirty="0">
                <a:solidFill>
                  <a:schemeClr val="tx1"/>
                </a:solidFill>
                <a:latin typeface="+mn-lt"/>
                <a:ea typeface="+mn-ea"/>
                <a:cs typeface="+mn-cs"/>
              </a:rPr>
              <a:t>不少于</a:t>
            </a:r>
            <a:r>
              <a:rPr lang="en-US" altLang="zh-CN" sz="1200" b="1" kern="1200" baseline="0" dirty="0">
                <a:solidFill>
                  <a:schemeClr val="tx1"/>
                </a:solidFill>
                <a:latin typeface="+mn-lt"/>
                <a:ea typeface="+mn-ea"/>
                <a:cs typeface="+mn-cs"/>
              </a:rPr>
              <a:t>200 </a:t>
            </a:r>
            <a:r>
              <a:rPr lang="zh-CN" altLang="en-US" sz="1200" b="1" kern="1200" baseline="0" dirty="0">
                <a:solidFill>
                  <a:schemeClr val="tx1"/>
                </a:solidFill>
                <a:latin typeface="+mn-lt"/>
                <a:ea typeface="+mn-ea"/>
                <a:cs typeface="+mn-cs"/>
              </a:rPr>
              <a:t>小时</a:t>
            </a:r>
            <a:endParaRPr lang="zh-CN" altLang="en-US"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tx1"/>
                </a:solidFill>
                <a:latin typeface="+mn-lt"/>
                <a:ea typeface="+mn-ea"/>
                <a:cs typeface="+mn-cs"/>
              </a:rPr>
              <a:t>前面说过：</a:t>
            </a:r>
            <a:r>
              <a:rPr lang="zh-CN" altLang="zh-CN" sz="1200" b="1" kern="1200" dirty="0">
                <a:solidFill>
                  <a:schemeClr val="tx1"/>
                </a:solidFill>
                <a:latin typeface="+mn-lt"/>
                <a:ea typeface="+mn-ea"/>
                <a:cs typeface="+mn-cs"/>
              </a:rPr>
              <a:t>一个完全无法改变你的教育，会是个无法起作用的教育</a:t>
            </a:r>
            <a:r>
              <a:rPr lang="zh-CN" altLang="en-US" sz="1200" b="1" kern="1200" dirty="0">
                <a:solidFill>
                  <a:schemeClr val="tx1"/>
                </a:solidFill>
                <a:latin typeface="+mn-lt"/>
                <a:ea typeface="+mn-ea"/>
                <a:cs typeface="+mn-cs"/>
              </a:rPr>
              <a:t>，所以请</a:t>
            </a:r>
            <a:r>
              <a:rPr lang="en-US" altLang="zh-CN" sz="1200" b="1" kern="1200" dirty="0">
                <a:solidFill>
                  <a:schemeClr val="tx1"/>
                </a:solidFill>
                <a:latin typeface="+mn-lt"/>
                <a:ea typeface="+mn-ea"/>
                <a:cs typeface="+mn-cs"/>
              </a:rPr>
              <a:t>【</a:t>
            </a:r>
            <a:r>
              <a:rPr lang="zh-CN" altLang="en-US" sz="1200" b="1" kern="1200" dirty="0">
                <a:solidFill>
                  <a:schemeClr val="tx1"/>
                </a:solidFill>
                <a:latin typeface="+mn-lt"/>
                <a:ea typeface="+mn-ea"/>
                <a:cs typeface="+mn-cs"/>
              </a:rPr>
              <a:t>写出</a:t>
            </a:r>
            <a:r>
              <a:rPr lang="zh-CN" altLang="zh-CN" sz="1200" b="1" kern="1200" dirty="0">
                <a:solidFill>
                  <a:schemeClr val="tx1"/>
                </a:solidFill>
                <a:latin typeface="+mn-lt"/>
                <a:ea typeface="+mn-ea"/>
                <a:cs typeface="+mn-cs"/>
              </a:rPr>
              <a:t>你不读这个学位就写不出的</a:t>
            </a:r>
            <a:r>
              <a:rPr lang="zh-CN" altLang="en-US" sz="1200" b="1" kern="1200" dirty="0">
                <a:solidFill>
                  <a:schemeClr val="tx1"/>
                </a:solidFill>
                <a:latin typeface="+mn-lt"/>
                <a:ea typeface="+mn-ea"/>
                <a:cs typeface="+mn-cs"/>
              </a:rPr>
              <a:t>研究</a:t>
            </a:r>
            <a:r>
              <a:rPr lang="zh-CN" altLang="zh-CN" sz="1200" b="1" kern="1200" dirty="0">
                <a:solidFill>
                  <a:schemeClr val="tx1"/>
                </a:solidFill>
                <a:latin typeface="+mn-lt"/>
                <a:ea typeface="+mn-ea"/>
                <a:cs typeface="+mn-cs"/>
              </a:rPr>
              <a:t>论文</a:t>
            </a:r>
            <a:r>
              <a:rPr lang="en-US" altLang="zh-CN" sz="1200" b="1" kern="1200" dirty="0">
                <a:solidFill>
                  <a:schemeClr val="tx1"/>
                </a:solidFill>
                <a:latin typeface="+mn-lt"/>
                <a:ea typeface="+mn-ea"/>
                <a:cs typeface="+mn-cs"/>
              </a:rPr>
              <a:t>】</a:t>
            </a:r>
            <a:endParaRPr lang="en-US" altLang="zh-CN" b="1"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a:t>
            </a:r>
            <a:r>
              <a:rPr lang="zh-CN" altLang="en-US" sz="1200" kern="1200" baseline="0" dirty="0">
                <a:solidFill>
                  <a:schemeClr val="tx1"/>
                </a:solidFill>
                <a:latin typeface="+mn-lt"/>
                <a:ea typeface="+mn-ea"/>
                <a:cs typeface="+mn-cs"/>
              </a:rPr>
              <a:t>学位论文应密切结合工程活动、工程要素、工程技术的</a:t>
            </a:r>
            <a:r>
              <a:rPr lang="zh-CN" altLang="en-US" sz="1200" b="1" kern="1200" baseline="0" dirty="0">
                <a:solidFill>
                  <a:schemeClr val="tx1"/>
                </a:solidFill>
                <a:latin typeface="+mn-lt"/>
                <a:ea typeface="+mn-ea"/>
                <a:cs typeface="+mn-cs"/>
              </a:rPr>
              <a:t>管理需求</a:t>
            </a:r>
            <a:r>
              <a:rPr lang="zh-CN" altLang="en-US" sz="1200" kern="1200" baseline="0" dirty="0">
                <a:solidFill>
                  <a:schemeClr val="tx1"/>
                </a:solidFill>
                <a:latin typeface="+mn-lt"/>
                <a:ea typeface="+mn-ea"/>
                <a:cs typeface="+mn-cs"/>
              </a:rPr>
              <a:t>，识别并提炼需要研究的问题。此类研究既可以是用</a:t>
            </a:r>
            <a:r>
              <a:rPr lang="zh-CN" altLang="en-US" sz="1200" b="1" kern="1200" baseline="0" dirty="0">
                <a:solidFill>
                  <a:schemeClr val="tx1"/>
                </a:solidFill>
                <a:latin typeface="+mn-lt"/>
                <a:ea typeface="+mn-ea"/>
                <a:cs typeface="+mn-cs"/>
              </a:rPr>
              <a:t>管理的理论、方法</a:t>
            </a:r>
            <a:r>
              <a:rPr lang="zh-CN" altLang="en-US" sz="1200" kern="1200" baseline="0" dirty="0">
                <a:solidFill>
                  <a:schemeClr val="tx1"/>
                </a:solidFill>
                <a:latin typeface="+mn-lt"/>
                <a:ea typeface="+mn-ea"/>
                <a:cs typeface="+mn-cs"/>
              </a:rPr>
              <a:t>，解决工程活动、工程要素、工程技术的问题，</a:t>
            </a:r>
            <a:r>
              <a:rPr lang="zh-CN" altLang="en-US" sz="1200" b="1" i="0" kern="1200" baseline="0" dirty="0">
                <a:solidFill>
                  <a:schemeClr val="tx1"/>
                </a:solidFill>
                <a:latin typeface="+mn-lt"/>
                <a:ea typeface="+mn-ea"/>
                <a:cs typeface="+mn-cs"/>
              </a:rPr>
              <a:t>也可以是用</a:t>
            </a:r>
            <a:r>
              <a:rPr lang="en-US" altLang="zh-CN" sz="1200" b="1" i="0" kern="1200" baseline="0" dirty="0">
                <a:solidFill>
                  <a:schemeClr val="tx1"/>
                </a:solidFill>
                <a:latin typeface="+mn-lt"/>
                <a:ea typeface="+mn-ea"/>
                <a:cs typeface="+mn-cs"/>
              </a:rPr>
              <a:t>【</a:t>
            </a:r>
            <a:r>
              <a:rPr lang="zh-CN" altLang="en-US" sz="1200" b="1" i="0" kern="1200" baseline="0" dirty="0">
                <a:solidFill>
                  <a:schemeClr val="tx1"/>
                </a:solidFill>
                <a:latin typeface="+mn-lt"/>
                <a:ea typeface="+mn-ea"/>
                <a:cs typeface="+mn-cs"/>
              </a:rPr>
              <a:t>工程技术的手段（建议最好结合管理方法）</a:t>
            </a:r>
            <a:r>
              <a:rPr lang="en-US" altLang="zh-CN" sz="1200" b="1" i="0" kern="1200" baseline="0" dirty="0">
                <a:solidFill>
                  <a:schemeClr val="tx1"/>
                </a:solidFill>
                <a:latin typeface="+mn-lt"/>
                <a:ea typeface="+mn-ea"/>
                <a:cs typeface="+mn-cs"/>
              </a:rPr>
              <a:t>】</a:t>
            </a:r>
            <a:r>
              <a:rPr lang="zh-CN" altLang="en-US" sz="1200" b="1" i="0" kern="1200" baseline="0" dirty="0">
                <a:solidFill>
                  <a:schemeClr val="tx1"/>
                </a:solidFill>
                <a:latin typeface="+mn-lt"/>
                <a:ea typeface="+mn-ea"/>
                <a:cs typeface="+mn-cs"/>
              </a:rPr>
              <a:t>解决管理的问题。</a:t>
            </a:r>
            <a:r>
              <a:rPr lang="zh-CN" altLang="en-US" sz="1200" b="1" kern="1200" baseline="0" dirty="0">
                <a:solidFill>
                  <a:schemeClr val="tx1"/>
                </a:solidFill>
                <a:latin typeface="+mn-lt"/>
                <a:ea typeface="+mn-ea"/>
                <a:cs typeface="+mn-cs"/>
              </a:rPr>
              <a:t>要考虑管理性质的体现。</a:t>
            </a:r>
            <a:r>
              <a:rPr lang="en-US" altLang="zh-CN" b="1" dirty="0"/>
              <a:t>《</a:t>
            </a:r>
            <a:r>
              <a:rPr lang="zh-CN" altLang="en-US" b="1" dirty="0"/>
              <a:t>一种汽车扰流板震动摩擦焊接工艺研究</a:t>
            </a:r>
            <a:r>
              <a:rPr lang="en-US" altLang="zh-CN" b="1" dirty="0"/>
              <a:t>》</a:t>
            </a:r>
            <a:r>
              <a:rPr lang="zh-CN" altLang="en-US" b="1" dirty="0"/>
              <a:t>：缺乏管理理论</a:t>
            </a:r>
            <a:endParaRPr lang="en-US" altLang="zh-CN" sz="1200" b="1" kern="1200" baseline="0" dirty="0">
              <a:solidFill>
                <a:schemeClr val="tx1"/>
              </a:solidFill>
              <a:latin typeface="+mn-lt"/>
              <a:ea typeface="+mn-ea"/>
              <a:cs typeface="+mn-cs"/>
            </a:endParaRPr>
          </a:p>
          <a:p>
            <a:r>
              <a:rPr lang="zh-CN" altLang="en-US" sz="1200" kern="1200" baseline="0" dirty="0">
                <a:solidFill>
                  <a:schemeClr val="tx1"/>
                </a:solidFill>
                <a:latin typeface="+mn-lt"/>
                <a:ea typeface="+mn-ea"/>
                <a:cs typeface="+mn-cs"/>
              </a:rPr>
              <a:t>（</a:t>
            </a:r>
            <a:r>
              <a:rPr lang="en-US" altLang="zh-CN" sz="1200" kern="1200" baseline="0" dirty="0">
                <a:solidFill>
                  <a:schemeClr val="tx1"/>
                </a:solidFill>
                <a:latin typeface="+mn-lt"/>
                <a:ea typeface="+mn-ea"/>
                <a:cs typeface="+mn-cs"/>
              </a:rPr>
              <a:t>3</a:t>
            </a:r>
            <a:r>
              <a:rPr lang="zh-CN" altLang="en-US" sz="1200" kern="1200" baseline="0" dirty="0">
                <a:solidFill>
                  <a:schemeClr val="tx1"/>
                </a:solidFill>
                <a:latin typeface="+mn-lt"/>
                <a:ea typeface="+mn-ea"/>
                <a:cs typeface="+mn-cs"/>
              </a:rPr>
              <a:t>）研究深入：学位论文研究解决的工程管理问题应具有一定的</a:t>
            </a:r>
            <a:r>
              <a:rPr lang="zh-CN" altLang="en-US" sz="1200" b="1" kern="1200" baseline="0" dirty="0">
                <a:solidFill>
                  <a:schemeClr val="tx1"/>
                </a:solidFill>
                <a:latin typeface="+mn-lt"/>
                <a:ea typeface="+mn-ea"/>
                <a:cs typeface="+mn-cs"/>
              </a:rPr>
              <a:t>难度、深度和先进性</a:t>
            </a:r>
            <a:r>
              <a:rPr lang="zh-CN" altLang="en-US" sz="1200" kern="1200" baseline="0" dirty="0">
                <a:solidFill>
                  <a:schemeClr val="tx1"/>
                </a:solidFill>
                <a:latin typeface="+mn-lt"/>
                <a:ea typeface="+mn-ea"/>
                <a:cs typeface="+mn-cs"/>
              </a:rPr>
              <a:t>、研究成果可行可鉴；（</a:t>
            </a:r>
            <a:r>
              <a:rPr lang="en-US" altLang="zh-CN" sz="1200" kern="1200" baseline="0" dirty="0">
                <a:solidFill>
                  <a:schemeClr val="tx1"/>
                </a:solidFill>
                <a:latin typeface="+mn-lt"/>
                <a:ea typeface="+mn-ea"/>
                <a:cs typeface="+mn-cs"/>
              </a:rPr>
              <a:t>4</a:t>
            </a:r>
            <a:r>
              <a:rPr lang="zh-CN" altLang="en-US" sz="1200" kern="1200" baseline="0" dirty="0">
                <a:solidFill>
                  <a:schemeClr val="tx1"/>
                </a:solidFill>
                <a:latin typeface="+mn-lt"/>
                <a:ea typeface="+mn-ea"/>
                <a:cs typeface="+mn-cs"/>
              </a:rPr>
              <a:t>）</a:t>
            </a:r>
            <a:r>
              <a:rPr lang="zh-CN" altLang="en-US" sz="1800" b="0" i="0" u="none" strike="noStrike" baseline="0" dirty="0">
                <a:latin typeface="宋体" panose="02010600030101010101" pitchFamily="2" charset="-122"/>
                <a:ea typeface="宋体" panose="02010600030101010101" pitchFamily="2" charset="-122"/>
              </a:rPr>
              <a:t>表述应准确精炼，论据充分，论证严谨、逻辑性强；</a:t>
            </a:r>
            <a:r>
              <a:rPr lang="zh-CN" altLang="en-US" sz="1200" kern="1200" baseline="0" dirty="0">
                <a:solidFill>
                  <a:schemeClr val="tx1"/>
                </a:solidFill>
                <a:latin typeface="+mn-lt"/>
                <a:ea typeface="+mn-ea"/>
                <a:cs typeface="+mn-cs"/>
              </a:rPr>
              <a:t>（</a:t>
            </a:r>
            <a:r>
              <a:rPr lang="en-US" altLang="zh-CN" sz="1200" kern="1200" baseline="0" dirty="0">
                <a:solidFill>
                  <a:schemeClr val="tx1"/>
                </a:solidFill>
                <a:latin typeface="+mn-lt"/>
                <a:ea typeface="+mn-ea"/>
                <a:cs typeface="+mn-cs"/>
              </a:rPr>
              <a:t>5</a:t>
            </a:r>
            <a:r>
              <a:rPr lang="zh-CN" altLang="en-US" sz="1200" kern="1200" baseline="0" dirty="0">
                <a:solidFill>
                  <a:schemeClr val="tx1"/>
                </a:solidFill>
                <a:latin typeface="+mn-lt"/>
                <a:ea typeface="+mn-ea"/>
                <a:cs typeface="+mn-cs"/>
              </a:rPr>
              <a:t>）论文实际投入工作量</a:t>
            </a:r>
            <a:r>
              <a:rPr lang="zh-CN" altLang="en-US" sz="1200" b="1" kern="1200" baseline="0" dirty="0">
                <a:solidFill>
                  <a:schemeClr val="tx1"/>
                </a:solidFill>
                <a:latin typeface="+mn-lt"/>
                <a:ea typeface="+mn-ea"/>
                <a:cs typeface="+mn-cs"/>
              </a:rPr>
              <a:t>不少于</a:t>
            </a:r>
            <a:r>
              <a:rPr lang="en-US" altLang="zh-CN" sz="1200" b="1" kern="1200" baseline="0" dirty="0">
                <a:solidFill>
                  <a:schemeClr val="tx1"/>
                </a:solidFill>
                <a:latin typeface="+mn-lt"/>
                <a:ea typeface="+mn-ea"/>
                <a:cs typeface="+mn-cs"/>
              </a:rPr>
              <a:t>200 </a:t>
            </a:r>
            <a:r>
              <a:rPr lang="zh-CN" altLang="en-US" sz="1200" b="1" kern="1200" baseline="0" dirty="0">
                <a:solidFill>
                  <a:schemeClr val="tx1"/>
                </a:solidFill>
                <a:latin typeface="+mn-lt"/>
                <a:ea typeface="+mn-ea"/>
                <a:cs typeface="+mn-cs"/>
              </a:rPr>
              <a:t>小时</a:t>
            </a:r>
            <a:endParaRPr lang="zh-CN" altLang="en-US" b="1"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1" kern="1200" baseline="0" dirty="0">
                <a:solidFill>
                  <a:schemeClr val="tx1"/>
                </a:solidFill>
                <a:latin typeface="+mn-lt"/>
                <a:ea typeface="+mn-ea"/>
                <a:cs typeface="+mn-cs"/>
              </a:rPr>
              <a:t>包括但不限于这</a:t>
            </a:r>
            <a:r>
              <a:rPr lang="en-US" altLang="zh-CN" sz="1200" b="1" kern="1200" baseline="0" dirty="0">
                <a:solidFill>
                  <a:schemeClr val="tx1"/>
                </a:solidFill>
                <a:latin typeface="+mn-lt"/>
                <a:ea typeface="+mn-ea"/>
                <a:cs typeface="+mn-cs"/>
              </a:rPr>
              <a:t>3</a:t>
            </a:r>
            <a:r>
              <a:rPr lang="zh-CN" altLang="en-US" sz="1200" b="1" kern="1200" baseline="0" dirty="0">
                <a:solidFill>
                  <a:schemeClr val="tx1"/>
                </a:solidFill>
                <a:latin typeface="+mn-lt"/>
                <a:ea typeface="+mn-ea"/>
                <a:cs typeface="+mn-cs"/>
              </a:rPr>
              <a:t>种形式。</a:t>
            </a:r>
            <a:r>
              <a:rPr lang="zh-CN" altLang="en-US" sz="1200" b="0" kern="1200" baseline="0" dirty="0">
                <a:solidFill>
                  <a:schemeClr val="tx1"/>
                </a:solidFill>
                <a:latin typeface="+mn-lt"/>
                <a:ea typeface="+mn-ea"/>
                <a:cs typeface="+mn-cs"/>
              </a:rPr>
              <a:t>全国教</a:t>
            </a:r>
            <a:r>
              <a:rPr lang="zh-CN" altLang="en-US" sz="1200" kern="1200" baseline="0" dirty="0">
                <a:solidFill>
                  <a:schemeClr val="tx1"/>
                </a:solidFill>
                <a:latin typeface="+mn-lt"/>
                <a:ea typeface="+mn-ea"/>
                <a:cs typeface="+mn-cs"/>
              </a:rPr>
              <a:t>指委文件对设计类和案例研究类论文还提到有关方面需要提前对论文工作相关的设计成果进行</a:t>
            </a:r>
            <a:r>
              <a:rPr lang="zh-CN" altLang="en-US" sz="1200" b="1" kern="1200" baseline="0" dirty="0">
                <a:solidFill>
                  <a:schemeClr val="tx1"/>
                </a:solidFill>
                <a:latin typeface="+mn-lt"/>
                <a:ea typeface="+mn-ea"/>
                <a:cs typeface="+mn-cs"/>
              </a:rPr>
              <a:t>评鉴</a:t>
            </a:r>
            <a:r>
              <a:rPr lang="zh-CN" altLang="en-US" sz="1200" kern="1200" baseline="0" dirty="0">
                <a:solidFill>
                  <a:schemeClr val="tx1"/>
                </a:solidFill>
                <a:latin typeface="+mn-lt"/>
                <a:ea typeface="+mn-ea"/>
                <a:cs typeface="+mn-cs"/>
              </a:rPr>
              <a:t>，评鉴书应提供评鉴责任主体、评鉴专家、评鉴流程、评鉴结论等信息，并作为附录材料放在论文里（</a:t>
            </a:r>
            <a:r>
              <a:rPr lang="zh-CN" altLang="en-US" sz="1200" b="1" kern="1200" baseline="0" dirty="0">
                <a:solidFill>
                  <a:schemeClr val="tx1"/>
                </a:solidFill>
                <a:latin typeface="+mn-lt"/>
                <a:ea typeface="+mn-ea"/>
                <a:cs typeface="+mn-cs"/>
              </a:rPr>
              <a:t>和上海市的要求不太一样，可以参考上海市，但论文其实没有严格分类，只有共同要求，比如实践性，记得之前有学生开题想要聚焦分析一个新技术应用发展趋势，就不符合</a:t>
            </a:r>
            <a:r>
              <a:rPr lang="en-US" altLang="zh-CN" sz="1200" b="1" kern="1200" baseline="0" dirty="0">
                <a:solidFill>
                  <a:schemeClr val="tx1"/>
                </a:solidFill>
                <a:latin typeface="+mn-lt"/>
                <a:ea typeface="+mn-ea"/>
                <a:cs typeface="+mn-cs"/>
              </a:rPr>
              <a:t>MEM</a:t>
            </a:r>
            <a:r>
              <a:rPr lang="zh-CN" altLang="en-US" sz="1200" b="1" kern="1200" baseline="0" dirty="0">
                <a:solidFill>
                  <a:schemeClr val="tx1"/>
                </a:solidFill>
                <a:latin typeface="+mn-lt"/>
                <a:ea typeface="+mn-ea"/>
                <a:cs typeface="+mn-cs"/>
              </a:rPr>
              <a:t>要求，其导师和我都不认可这类选题</a:t>
            </a:r>
            <a:r>
              <a:rPr lang="zh-CN" altLang="en-US" sz="1200" kern="1200" baseline="0" dirty="0">
                <a:solidFill>
                  <a:schemeClr val="tx1"/>
                </a:solidFill>
                <a:latin typeface="+mn-lt"/>
                <a:ea typeface="+mn-ea"/>
                <a:cs typeface="+mn-cs"/>
              </a:rPr>
              <a:t>）</a:t>
            </a:r>
            <a:endParaRPr lang="en-US" altLang="zh-CN" sz="1200" kern="1200" baseline="0" dirty="0">
              <a:solidFill>
                <a:schemeClr val="tx1"/>
              </a:solidFill>
              <a:latin typeface="+mn-lt"/>
              <a:ea typeface="+mn-ea"/>
              <a:cs typeface="+mn-cs"/>
            </a:endParaRPr>
          </a:p>
          <a:p>
            <a:r>
              <a:rPr lang="zh-CN" altLang="zh-CN" sz="1200" b="1" kern="1200" dirty="0">
                <a:solidFill>
                  <a:schemeClr val="tx1"/>
                </a:solidFill>
                <a:latin typeface="+mn-lt"/>
                <a:ea typeface="+mn-ea"/>
                <a:cs typeface="+mn-cs"/>
              </a:rPr>
              <a:t>工程管理设计类论文</a:t>
            </a:r>
            <a:r>
              <a:rPr lang="zh-CN" altLang="en-US" sz="1200" b="1" kern="1200" dirty="0">
                <a:solidFill>
                  <a:schemeClr val="tx1"/>
                </a:solidFill>
                <a:latin typeface="+mn-lt"/>
                <a:ea typeface="+mn-ea"/>
                <a:cs typeface="+mn-cs"/>
              </a:rPr>
              <a:t>：</a:t>
            </a:r>
            <a:endParaRPr lang="zh-CN" altLang="zh-CN" sz="1200" b="1"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对有关产品、系统、设施、流程、方案等进行创新性设计并开展相关问题研究。此类论文应根据设计对象特点，重点阐述设计背景、需求分析、设计依据、设计过程及验证结论等。论文的整体篇幅可以适当灵活，但有关方面需要提前对论文工作相关的设计成果进行评鉴，评鉴书应提供评鉴责任主体、评鉴专家、评鉴流程、评鉴结论等信息，并作为附录材料放在论文里。</a:t>
            </a:r>
          </a:p>
          <a:p>
            <a:r>
              <a:rPr lang="en-US" altLang="zh-CN" sz="1200" kern="1200" dirty="0">
                <a:solidFill>
                  <a:schemeClr val="tx1"/>
                </a:solidFill>
                <a:latin typeface="+mn-lt"/>
                <a:ea typeface="+mn-ea"/>
                <a:cs typeface="+mn-cs"/>
              </a:rPr>
              <a:t> </a:t>
            </a:r>
            <a:r>
              <a:rPr lang="zh-CN" altLang="zh-CN" sz="1200" b="1" kern="1200" dirty="0">
                <a:solidFill>
                  <a:schemeClr val="tx1"/>
                </a:solidFill>
                <a:latin typeface="+mn-lt"/>
                <a:ea typeface="+mn-ea"/>
                <a:cs typeface="+mn-cs"/>
              </a:rPr>
              <a:t>工程管理案例类研究论文：</a:t>
            </a:r>
          </a:p>
          <a:p>
            <a:r>
              <a:rPr lang="zh-CN" altLang="zh-CN" sz="1200" kern="1200" dirty="0">
                <a:solidFill>
                  <a:schemeClr val="tx1"/>
                </a:solidFill>
                <a:latin typeface="+mn-lt"/>
                <a:ea typeface="+mn-ea"/>
                <a:cs typeface="+mn-cs"/>
              </a:rPr>
              <a:t>以成功或失败的工程管理实践为研究对象，进行调研与数据收集、分析、归纳、整理，发现问题，找出规律，提出建议或解决方案。此类论文应着重阐述研究的背景、对象选择、内容确定、调研方法、数据分析。论文的整体篇幅可以适当灵活，但有关方面需要提前对论文工作相关的研究成果进行评鉴，评鉴书应提供评鉴责任主体、评鉴专家、评鉴流程、评鉴结论等信息，并作为附录材料放在论文里。</a:t>
            </a:r>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a:t>三种形式论文的</a:t>
            </a:r>
            <a:r>
              <a:rPr lang="zh-CN" altLang="zh-CN" b="1" dirty="0"/>
              <a:t>结构</a:t>
            </a:r>
            <a:r>
              <a:rPr lang="zh-CN" altLang="en-US" b="1" dirty="0"/>
              <a:t>要求</a:t>
            </a:r>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a:t>备注框是教指委文件里的</a:t>
            </a:r>
            <a:r>
              <a:rPr lang="zh-CN" altLang="en-US" dirty="0"/>
              <a:t>。</a:t>
            </a:r>
            <a:r>
              <a:rPr lang="en-US" altLang="zh-CN" dirty="0"/>
              <a:t>Use an existing theory to solve the research</a:t>
            </a:r>
            <a:r>
              <a:rPr lang="en-US" altLang="zh-CN" baseline="0" dirty="0"/>
              <a:t> question or even develop a theory</a:t>
            </a:r>
            <a:r>
              <a:rPr lang="zh-CN" altLang="en-US" baseline="0" dirty="0"/>
              <a:t>；</a:t>
            </a:r>
            <a:endParaRPr lang="en-US" altLang="zh-CN" baseline="0" dirty="0"/>
          </a:p>
          <a:p>
            <a:r>
              <a:rPr lang="zh-CN" altLang="en-US" b="1" baseline="0" dirty="0"/>
              <a:t>第三点：选对理论、用对理论</a:t>
            </a:r>
            <a:endParaRPr lang="zh-CN" altLang="en-US" b="1"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baseline="0" dirty="0">
                <a:solidFill>
                  <a:schemeClr val="tx1"/>
                </a:solidFill>
                <a:latin typeface="+mn-lt"/>
                <a:ea typeface="+mn-ea"/>
                <a:cs typeface="+mn-cs"/>
              </a:rPr>
              <a:t>注：对于工程管理设计类和工程管理案例研究类论文，同样建议选择合适的理论、方法和工具及收集整理必要的数据等，</a:t>
            </a:r>
            <a:r>
              <a:rPr lang="zh-CN" altLang="en-US" sz="1200" b="1" kern="1200" baseline="0" dirty="0">
                <a:solidFill>
                  <a:schemeClr val="tx1"/>
                </a:solidFill>
                <a:latin typeface="+mn-lt"/>
                <a:ea typeface="+mn-ea"/>
                <a:cs typeface="+mn-cs"/>
              </a:rPr>
              <a:t>可根据论文实际情况进行适当调整。</a:t>
            </a:r>
            <a:endParaRPr lang="zh-CN" altLang="en-US" b="1"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a:t>第一类论文强调研究成果的普适性（建议加破折号聚焦些），在结构上可能多一章通用的理论框研究架，再用个案验证，第三类论文以解决公司个案问题为主（多为综合运用多种管理理论方法而不仅限于一种，当然也可以聚焦于一种先进方法，即和第一类或第二类相结合），类似的第二类论文可以大也可以小（偏向第一或第三类）</a:t>
            </a:r>
            <a:r>
              <a:rPr lang="en-US" altLang="zh-CN" b="1" dirty="0"/>
              <a:t>——</a:t>
            </a:r>
            <a:r>
              <a:rPr lang="zh-CN" altLang="en-US" b="1" dirty="0"/>
              <a:t>趋向于单方法创新或多方法结合。</a:t>
            </a:r>
            <a:r>
              <a:rPr lang="zh-CN" altLang="en-US" sz="1200" b="0" i="0" kern="1200" dirty="0">
                <a:solidFill>
                  <a:schemeClr val="tx1"/>
                </a:solidFill>
                <a:latin typeface="+mn-lt"/>
                <a:ea typeface="+mn-ea"/>
                <a:cs typeface="+mn-cs"/>
              </a:rPr>
              <a:t>挣值管理（</a:t>
            </a:r>
            <a:r>
              <a:rPr lang="en-US" altLang="zh-CN" sz="1200" b="0" i="0" kern="1200" dirty="0">
                <a:solidFill>
                  <a:schemeClr val="tx1"/>
                </a:solidFill>
                <a:latin typeface="+mn-lt"/>
                <a:ea typeface="+mn-ea"/>
                <a:cs typeface="+mn-cs"/>
              </a:rPr>
              <a:t>Earned Value Management, EVM</a:t>
            </a:r>
            <a:r>
              <a:rPr lang="zh-CN" altLang="en-US" sz="1200" b="0" i="0" kern="1200" dirty="0">
                <a:solidFill>
                  <a:schemeClr val="tx1"/>
                </a:solidFill>
                <a:latin typeface="+mn-lt"/>
                <a:ea typeface="+mn-ea"/>
                <a:cs typeface="+mn-cs"/>
              </a:rPr>
              <a:t>）</a:t>
            </a:r>
            <a:endParaRPr lang="zh-CN" altLang="en-US" b="1"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设计类是从无到有也有具体产出目标？陈磊论文？</a:t>
            </a:r>
          </a:p>
        </p:txBody>
      </p:sp>
      <p:sp>
        <p:nvSpPr>
          <p:cNvPr id="4" name="灯片编号占位符 3"/>
          <p:cNvSpPr>
            <a:spLocks noGrp="1"/>
          </p:cNvSpPr>
          <p:nvPr>
            <p:ph type="sldNum" sz="quarter" idx="5"/>
          </p:nvPr>
        </p:nvSpPr>
        <p:spPr/>
        <p:txBody>
          <a:bodyPr/>
          <a:lstStyle/>
          <a:p>
            <a:fld id="{FED97190-1A81-46A5-8F7E-0C72CC91C7D3}" type="slidenum">
              <a:rPr lang="zh-CN" altLang="en-US" smtClean="0"/>
              <a:pPr/>
              <a:t>14</a:t>
            </a:fld>
            <a:endParaRPr lang="zh-CN" altLang="en-US"/>
          </a:p>
        </p:txBody>
      </p:sp>
    </p:spTree>
    <p:extLst>
      <p:ext uri="{BB962C8B-B14F-4D97-AF65-F5344CB8AC3E}">
        <p14:creationId xmlns:p14="http://schemas.microsoft.com/office/powerpoint/2010/main" val="2570413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基本和上海市的差不多</a:t>
            </a:r>
          </a:p>
        </p:txBody>
      </p:sp>
      <p:sp>
        <p:nvSpPr>
          <p:cNvPr id="4" name="灯片编号占位符 3"/>
          <p:cNvSpPr>
            <a:spLocks noGrp="1"/>
          </p:cNvSpPr>
          <p:nvPr>
            <p:ph type="sldNum" sz="quarter" idx="5"/>
          </p:nvPr>
        </p:nvSpPr>
        <p:spPr/>
        <p:txBody>
          <a:bodyPr/>
          <a:lstStyle/>
          <a:p>
            <a:fld id="{FED97190-1A81-46A5-8F7E-0C72CC91C7D3}" type="slidenum">
              <a:rPr lang="zh-CN" altLang="en-US" smtClean="0"/>
              <a:pPr/>
              <a:t>15</a:t>
            </a:fld>
            <a:endParaRPr lang="zh-CN" altLang="en-US"/>
          </a:p>
        </p:txBody>
      </p:sp>
    </p:spTree>
    <p:extLst>
      <p:ext uri="{BB962C8B-B14F-4D97-AF65-F5344CB8AC3E}">
        <p14:creationId xmlns:p14="http://schemas.microsoft.com/office/powerpoint/2010/main" val="1524140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0" dirty="0"/>
              <a:t>专题类论文针对“选题”：</a:t>
            </a:r>
            <a:r>
              <a:rPr lang="zh-CN" altLang="en-US" sz="1200" b="0" kern="1200" baseline="0" dirty="0">
                <a:solidFill>
                  <a:schemeClr val="tx1"/>
                </a:solidFill>
                <a:latin typeface="+mn-lt"/>
                <a:ea typeface="+mn-ea"/>
                <a:cs typeface="+mn-cs"/>
              </a:rPr>
              <a:t>选题属于工程管理研究范畴，兼有科学性与实践性。 	</a:t>
            </a:r>
            <a:endParaRPr lang="en-US" altLang="zh-CN" b="0" dirty="0"/>
          </a:p>
          <a:p>
            <a:r>
              <a:rPr lang="zh-CN" altLang="en-US" b="1" dirty="0"/>
              <a:t>双</a:t>
            </a:r>
            <a:r>
              <a:rPr lang="en-US" altLang="zh-CN" b="1" dirty="0"/>
              <a:t>50</a:t>
            </a:r>
            <a:r>
              <a:rPr lang="zh-CN" altLang="en-US" b="1" dirty="0"/>
              <a:t>标准（全国教指委：</a:t>
            </a:r>
            <a:r>
              <a:rPr lang="zh-CN" altLang="en-US" sz="1200" b="1" kern="1200" baseline="0" dirty="0">
                <a:solidFill>
                  <a:schemeClr val="tx1"/>
                </a:solidFill>
                <a:latin typeface="+mn-lt"/>
                <a:ea typeface="+mn-ea"/>
                <a:cs typeface="+mn-cs"/>
              </a:rPr>
              <a:t>论文正文部分的篇幅在</a:t>
            </a:r>
            <a:r>
              <a:rPr lang="en-US" altLang="zh-CN" sz="1200" b="1" kern="1200" baseline="0" dirty="0">
                <a:solidFill>
                  <a:schemeClr val="tx1"/>
                </a:solidFill>
                <a:latin typeface="+mn-lt"/>
                <a:ea typeface="+mn-ea"/>
                <a:cs typeface="+mn-cs"/>
              </a:rPr>
              <a:t>60 </a:t>
            </a:r>
            <a:r>
              <a:rPr lang="zh-CN" altLang="en-US" sz="1200" b="1" kern="1200" baseline="0" dirty="0">
                <a:solidFill>
                  <a:schemeClr val="tx1"/>
                </a:solidFill>
                <a:latin typeface="+mn-lt"/>
                <a:ea typeface="+mn-ea"/>
                <a:cs typeface="+mn-cs"/>
              </a:rPr>
              <a:t>页或</a:t>
            </a:r>
            <a:r>
              <a:rPr lang="en-US" altLang="zh-CN" sz="1200" b="1" kern="1200" baseline="0" dirty="0">
                <a:solidFill>
                  <a:schemeClr val="tx1"/>
                </a:solidFill>
                <a:latin typeface="+mn-lt"/>
                <a:ea typeface="+mn-ea"/>
                <a:cs typeface="+mn-cs"/>
              </a:rPr>
              <a:t>3 </a:t>
            </a:r>
            <a:r>
              <a:rPr lang="zh-CN" altLang="en-US" sz="1200" b="1" kern="1200" baseline="0" dirty="0">
                <a:solidFill>
                  <a:schemeClr val="tx1"/>
                </a:solidFill>
                <a:latin typeface="+mn-lt"/>
                <a:ea typeface="+mn-ea"/>
                <a:cs typeface="+mn-cs"/>
              </a:rPr>
              <a:t>万字左右</a:t>
            </a:r>
            <a:r>
              <a:rPr lang="zh-CN" altLang="en-US" b="1" dirty="0"/>
              <a:t>），单项低于</a:t>
            </a:r>
            <a:r>
              <a:rPr lang="en-US" altLang="zh-CN" b="1" dirty="0"/>
              <a:t>60</a:t>
            </a:r>
            <a:r>
              <a:rPr lang="zh-CN" altLang="en-US" b="1" dirty="0"/>
              <a:t>为不合格</a:t>
            </a:r>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相当于研究过程、成果和答辩的评价，但一般不做具体评价，</a:t>
            </a:r>
            <a:r>
              <a:rPr lang="zh-CN" altLang="en-US"/>
              <a:t>可作为自身完善</a:t>
            </a:r>
            <a:r>
              <a:rPr lang="zh-CN" altLang="en-US" dirty="0"/>
              <a:t>研究工作、论文写作和答辩的参考</a:t>
            </a:r>
          </a:p>
        </p:txBody>
      </p:sp>
      <p:sp>
        <p:nvSpPr>
          <p:cNvPr id="4" name="灯片编号占位符 3"/>
          <p:cNvSpPr>
            <a:spLocks noGrp="1"/>
          </p:cNvSpPr>
          <p:nvPr>
            <p:ph type="sldNum" sz="quarter" idx="5"/>
          </p:nvPr>
        </p:nvSpPr>
        <p:spPr/>
        <p:txBody>
          <a:bodyPr/>
          <a:lstStyle/>
          <a:p>
            <a:fld id="{FED97190-1A81-46A5-8F7E-0C72CC91C7D3}" type="slidenum">
              <a:rPr lang="zh-CN" altLang="en-US" smtClean="0"/>
              <a:pPr/>
              <a:t>18</a:t>
            </a:fld>
            <a:endParaRPr lang="zh-CN" altLang="en-US"/>
          </a:p>
        </p:txBody>
      </p:sp>
    </p:spTree>
    <p:extLst>
      <p:ext uri="{BB962C8B-B14F-4D97-AF65-F5344CB8AC3E}">
        <p14:creationId xmlns:p14="http://schemas.microsoft.com/office/powerpoint/2010/main" val="167024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a:t>看下</a:t>
            </a:r>
            <a:r>
              <a:rPr lang="en-US" altLang="zh-CN" b="1" dirty="0"/>
              <a:t>《</a:t>
            </a:r>
            <a:r>
              <a:rPr lang="zh-CN" altLang="en-US" b="1" dirty="0"/>
              <a:t>评阅意见书</a:t>
            </a:r>
            <a:r>
              <a:rPr lang="en-US" altLang="zh-CN" b="1" dirty="0"/>
              <a:t>》</a:t>
            </a:r>
            <a:endParaRPr lang="zh-CN" altLang="en-US" b="1" dirty="0"/>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u="sng" kern="1200" dirty="0">
                <a:solidFill>
                  <a:schemeClr val="tx1"/>
                </a:solidFill>
                <a:latin typeface="+mn-lt"/>
                <a:ea typeface="+mn-ea"/>
                <a:cs typeface="+mn-cs"/>
                <a:hlinkClick r:id="rId3"/>
              </a:rPr>
              <a:t>academy of management journal (</a:t>
            </a:r>
            <a:r>
              <a:rPr lang="en-US" altLang="zh-CN" sz="1200" b="0" i="0" u="sng" kern="1200" dirty="0" err="1">
                <a:solidFill>
                  <a:schemeClr val="tx1"/>
                </a:solidFill>
                <a:latin typeface="+mn-lt"/>
                <a:ea typeface="+mn-ea"/>
                <a:cs typeface="+mn-cs"/>
                <a:hlinkClick r:id="rId3"/>
              </a:rPr>
              <a:t>amj</a:t>
            </a:r>
            <a:r>
              <a:rPr lang="en-US" altLang="zh-CN" sz="1200" b="0" i="0" u="sng" kern="1200" dirty="0">
                <a:solidFill>
                  <a:schemeClr val="tx1"/>
                </a:solidFill>
                <a:latin typeface="+mn-lt"/>
                <a:ea typeface="+mn-ea"/>
                <a:cs typeface="+mn-cs"/>
                <a:hlinkClick r:id="rId3"/>
              </a:rPr>
              <a:t>)</a:t>
            </a:r>
            <a:r>
              <a:rPr lang="en-US" altLang="zh-CN" b="1" dirty="0"/>
              <a:t>Top-tier journal(</a:t>
            </a:r>
            <a:r>
              <a:rPr lang="zh-CN" altLang="en-US" sz="1200" b="0" i="0" kern="1200" dirty="0">
                <a:solidFill>
                  <a:schemeClr val="tx1"/>
                </a:solidFill>
                <a:latin typeface="+mn-lt"/>
                <a:ea typeface="+mn-ea"/>
                <a:cs typeface="+mn-cs"/>
              </a:rPr>
              <a:t>管理学会杂志</a:t>
            </a:r>
            <a:r>
              <a:rPr lang="en-US" altLang="zh-CN" sz="1200" b="0" i="0" kern="1200" dirty="0">
                <a:solidFill>
                  <a:schemeClr val="tx1"/>
                </a:solidFill>
                <a:latin typeface="+mn-lt"/>
                <a:ea typeface="+mn-ea"/>
                <a:cs typeface="+mn-cs"/>
              </a:rPr>
              <a:t>; </a:t>
            </a:r>
            <a:r>
              <a:rPr lang="zh-CN" altLang="en-US" sz="1200" b="1" i="0" kern="1200" dirty="0">
                <a:solidFill>
                  <a:schemeClr val="tx1"/>
                </a:solidFill>
                <a:latin typeface="+mn-lt"/>
                <a:ea typeface="+mn-ea"/>
                <a:cs typeface="+mn-cs"/>
              </a:rPr>
              <a:t>美国管理学会学报</a:t>
            </a:r>
            <a:r>
              <a:rPr lang="en-US" altLang="zh-CN" sz="1200" b="0" i="0" kern="1200" dirty="0">
                <a:solidFill>
                  <a:schemeClr val="tx1"/>
                </a:solidFill>
                <a:latin typeface="+mn-lt"/>
                <a:ea typeface="+mn-ea"/>
                <a:cs typeface="+mn-cs"/>
              </a:rPr>
              <a:t>; </a:t>
            </a:r>
            <a:r>
              <a:rPr lang="zh-CN" altLang="en-US" sz="1200" b="0" i="0" kern="1200" dirty="0">
                <a:solidFill>
                  <a:schemeClr val="tx1"/>
                </a:solidFill>
                <a:latin typeface="+mn-lt"/>
                <a:ea typeface="+mn-ea"/>
                <a:cs typeface="+mn-cs"/>
              </a:rPr>
              <a:t>管理学会学报</a:t>
            </a:r>
            <a:r>
              <a:rPr lang="en-US" altLang="zh-CN" b="1" dirty="0"/>
              <a:t>)</a:t>
            </a:r>
            <a:r>
              <a:rPr lang="zh-CN" altLang="en-US" b="1" dirty="0"/>
              <a:t>；选题意义、理论选择、理论方法应用（包括逻辑演绎）能否提供问题的解决方案、研究价值</a:t>
            </a:r>
          </a:p>
        </p:txBody>
      </p:sp>
      <p:sp>
        <p:nvSpPr>
          <p:cNvPr id="4" name="灯片编号占位符 3"/>
          <p:cNvSpPr>
            <a:spLocks noGrp="1"/>
          </p:cNvSpPr>
          <p:nvPr>
            <p:ph type="sldNum" sz="quarter" idx="10"/>
          </p:nvPr>
        </p:nvSpPr>
        <p:spPr/>
        <p:txBody>
          <a:bodyPr/>
          <a:lstStyle/>
          <a:p>
            <a:fld id="{FED97190-1A81-46A5-8F7E-0C72CC91C7D3}" type="slidenum">
              <a:rPr lang="zh-CN" altLang="en-US" smtClean="0"/>
              <a:pPr/>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053C5E-AF70-4A6D-81EC-5EA6D830E309}" type="datetimeFigureOut">
              <a:rPr lang="zh-CN" altLang="en-US" smtClean="0"/>
              <a:pPr/>
              <a:t>2025/9/11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228C61-99D5-41F6-A6B7-D72E532DD1ED}"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053C5E-AF70-4A6D-81EC-5EA6D830E309}" type="datetimeFigureOut">
              <a:rPr lang="zh-CN" altLang="en-US" smtClean="0"/>
              <a:pPr/>
              <a:t>2025/9/11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228C61-99D5-41F6-A6B7-D72E532DD1E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000" b="1" dirty="0">
                <a:latin typeface="楷体" pitchFamily="49" charset="-122"/>
                <a:ea typeface="楷体" pitchFamily="49" charset="-122"/>
              </a:rPr>
              <a:t>工程管理硕士专业学位论文基本要求和评价指标体系</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274638"/>
            <a:ext cx="8075240" cy="1143000"/>
          </a:xfrm>
        </p:spPr>
        <p:txBody>
          <a:bodyPr>
            <a:normAutofit/>
          </a:bodyPr>
          <a:lstStyle/>
          <a:p>
            <a:pPr algn="l"/>
            <a:r>
              <a:rPr lang="zh-CN" altLang="en-US" sz="4000" b="1" dirty="0"/>
              <a:t>本章要点</a:t>
            </a:r>
          </a:p>
        </p:txBody>
      </p:sp>
      <p:sp>
        <p:nvSpPr>
          <p:cNvPr id="3" name="内容占位符 2"/>
          <p:cNvSpPr>
            <a:spLocks noGrp="1"/>
          </p:cNvSpPr>
          <p:nvPr>
            <p:ph idx="1"/>
          </p:nvPr>
        </p:nvSpPr>
        <p:spPr>
          <a:xfrm>
            <a:off x="755576" y="1600200"/>
            <a:ext cx="7931224" cy="4525963"/>
          </a:xfrm>
        </p:spPr>
        <p:txBody>
          <a:bodyPr>
            <a:normAutofit/>
          </a:bodyPr>
          <a:lstStyle/>
          <a:p>
            <a:pPr>
              <a:lnSpc>
                <a:spcPct val="150000"/>
              </a:lnSpc>
            </a:pPr>
            <a:r>
              <a:rPr lang="zh-CN" altLang="en-US" sz="2800" b="1" dirty="0"/>
              <a:t>工程管理硕士专业的特征</a:t>
            </a:r>
            <a:endParaRPr lang="en-US" altLang="zh-CN" sz="2800" b="1" dirty="0"/>
          </a:p>
          <a:p>
            <a:pPr>
              <a:lnSpc>
                <a:spcPct val="150000"/>
              </a:lnSpc>
            </a:pPr>
            <a:r>
              <a:rPr lang="zh-CN" altLang="en-US" sz="2800" b="1" dirty="0"/>
              <a:t>工程管理硕士专业学位论文研究目的</a:t>
            </a:r>
            <a:endParaRPr lang="en-US" altLang="zh-CN" sz="2800" b="1" dirty="0"/>
          </a:p>
          <a:p>
            <a:pPr>
              <a:lnSpc>
                <a:spcPct val="150000"/>
              </a:lnSpc>
            </a:pPr>
            <a:r>
              <a:rPr lang="zh-CN" altLang="en-US" sz="2800" b="1" dirty="0"/>
              <a:t>工程管理硕士专业学位论文的要求和形式</a:t>
            </a:r>
            <a:endParaRPr lang="en-US" altLang="zh-CN" sz="2800" b="1" dirty="0"/>
          </a:p>
          <a:p>
            <a:pPr>
              <a:lnSpc>
                <a:spcPct val="150000"/>
              </a:lnSpc>
            </a:pPr>
            <a:r>
              <a:rPr lang="zh-CN" altLang="en-US" sz="2800" b="1" dirty="0"/>
              <a:t>工程管理硕士专业学位论文的评价指标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4000" b="1" dirty="0"/>
              <a:t>工程管理硕士专业的特征</a:t>
            </a:r>
            <a:endParaRPr lang="zh-CN" altLang="en-US" sz="4000" b="1" dirty="0"/>
          </a:p>
        </p:txBody>
      </p:sp>
      <p:sp>
        <p:nvSpPr>
          <p:cNvPr id="3" name="内容占位符 2"/>
          <p:cNvSpPr>
            <a:spLocks noGrp="1"/>
          </p:cNvSpPr>
          <p:nvPr>
            <p:ph idx="1"/>
          </p:nvPr>
        </p:nvSpPr>
        <p:spPr>
          <a:xfrm>
            <a:off x="457200" y="1484784"/>
            <a:ext cx="8229600" cy="4641379"/>
          </a:xfrm>
        </p:spPr>
        <p:txBody>
          <a:bodyPr>
            <a:normAutofit fontScale="85000" lnSpcReduction="10000"/>
          </a:bodyPr>
          <a:lstStyle/>
          <a:p>
            <a:pPr>
              <a:lnSpc>
                <a:spcPct val="130000"/>
              </a:lnSpc>
            </a:pPr>
            <a:r>
              <a:rPr lang="zh-CN" altLang="en-US" dirty="0"/>
              <a:t>工程管理将</a:t>
            </a:r>
            <a:r>
              <a:rPr lang="zh-CN" altLang="en-US" b="1" dirty="0"/>
              <a:t>工程领域和</a:t>
            </a:r>
            <a:r>
              <a:rPr lang="zh-CN" altLang="en-US" b="1" dirty="0">
                <a:solidFill>
                  <a:srgbClr val="0000FF"/>
                </a:solidFill>
              </a:rPr>
              <a:t>管理领域</a:t>
            </a:r>
            <a:r>
              <a:rPr lang="zh-CN" altLang="en-US" dirty="0"/>
              <a:t>的技能相结合，培养学生具备</a:t>
            </a:r>
            <a:r>
              <a:rPr lang="zh-CN" altLang="en-US" b="1" dirty="0"/>
              <a:t>技术专长和领导技能</a:t>
            </a:r>
            <a:r>
              <a:rPr lang="zh-CN" altLang="en-US" dirty="0"/>
              <a:t>，便于他们在快速发展的技术世界中提升自己的职业生涯。</a:t>
            </a:r>
          </a:p>
          <a:p>
            <a:pPr>
              <a:lnSpc>
                <a:spcPct val="130000"/>
              </a:lnSpc>
            </a:pPr>
            <a:r>
              <a:rPr lang="zh-CN" altLang="en-US" dirty="0"/>
              <a:t>工程管理硕士专业的</a:t>
            </a:r>
            <a:r>
              <a:rPr lang="zh-CN" altLang="en-US" b="1" dirty="0"/>
              <a:t>人才培养目标</a:t>
            </a:r>
            <a:r>
              <a:rPr lang="zh-CN" altLang="en-US" dirty="0"/>
              <a:t>：具备良好的政治思想素质和职业道德素养，掌握系统的工程管理理论，以及相关工程领域的基础理论和专门知识，具有较强的计划、组织、指挥、协调、控制和决策能力，能够独立担负工程管理工作的高层次、应用型工程管理专业人才。 </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b="1" dirty="0">
                <a:solidFill>
                  <a:srgbClr val="0000FF"/>
                </a:solidFill>
              </a:rPr>
              <a:t>全国教指委对</a:t>
            </a:r>
            <a:r>
              <a:rPr lang="en-US" altLang="zh-CN" sz="2800" b="1" dirty="0">
                <a:solidFill>
                  <a:srgbClr val="0000FF"/>
                </a:solidFill>
              </a:rPr>
              <a:t>MEM</a:t>
            </a:r>
            <a:r>
              <a:rPr lang="zh-CN" altLang="en-US" sz="2800" b="1" dirty="0">
                <a:solidFill>
                  <a:srgbClr val="0000FF"/>
                </a:solidFill>
              </a:rPr>
              <a:t>专业学位提出的基本能力要求</a:t>
            </a:r>
          </a:p>
        </p:txBody>
      </p:sp>
      <p:sp>
        <p:nvSpPr>
          <p:cNvPr id="3" name="内容占位符 2"/>
          <p:cNvSpPr>
            <a:spLocks noGrp="1"/>
          </p:cNvSpPr>
          <p:nvPr>
            <p:ph idx="1"/>
          </p:nvPr>
        </p:nvSpPr>
        <p:spPr/>
        <p:txBody>
          <a:bodyPr/>
          <a:lstStyle/>
          <a:p>
            <a:pPr>
              <a:lnSpc>
                <a:spcPct val="120000"/>
              </a:lnSpc>
              <a:buNone/>
            </a:pPr>
            <a:r>
              <a:rPr lang="zh-CN" altLang="en-US" dirty="0"/>
              <a:t>应具备的</a:t>
            </a:r>
            <a:r>
              <a:rPr lang="zh-CN" altLang="en-US" b="1" dirty="0"/>
              <a:t>专业能力</a:t>
            </a:r>
            <a:r>
              <a:rPr lang="zh-CN" altLang="en-US" dirty="0"/>
              <a:t>包括：</a:t>
            </a:r>
          </a:p>
          <a:p>
            <a:pPr>
              <a:lnSpc>
                <a:spcPct val="120000"/>
              </a:lnSpc>
            </a:pPr>
            <a:r>
              <a:rPr lang="zh-CN" altLang="en-US" dirty="0"/>
              <a:t>识别、归纳并运用现代工</a:t>
            </a:r>
            <a:r>
              <a:rPr lang="zh-CN" altLang="en-US" b="1" dirty="0"/>
              <a:t>程管理的理论、方法、工具</a:t>
            </a:r>
            <a:r>
              <a:rPr lang="zh-CN" altLang="en-US" dirty="0"/>
              <a:t>解决</a:t>
            </a:r>
            <a:r>
              <a:rPr lang="zh-CN" altLang="en-US" b="1" dirty="0"/>
              <a:t>工程管理实际问题</a:t>
            </a:r>
            <a:r>
              <a:rPr lang="zh-CN" altLang="en-US" dirty="0"/>
              <a:t>的能力；</a:t>
            </a:r>
          </a:p>
          <a:p>
            <a:pPr>
              <a:lnSpc>
                <a:spcPct val="120000"/>
              </a:lnSpc>
            </a:pPr>
            <a:r>
              <a:rPr lang="zh-CN" altLang="en-US" dirty="0"/>
              <a:t>运用数学、科学及工程知识等</a:t>
            </a:r>
            <a:r>
              <a:rPr lang="zh-CN" altLang="en-US" b="1" dirty="0"/>
              <a:t>数理和技术方法进行分析决策</a:t>
            </a:r>
            <a:r>
              <a:rPr lang="zh-CN" altLang="en-US" dirty="0"/>
              <a:t>的能力；</a:t>
            </a:r>
          </a:p>
          <a:p>
            <a:pPr>
              <a:lnSpc>
                <a:spcPct val="120000"/>
              </a:lnSpc>
            </a:pPr>
            <a:r>
              <a:rPr lang="zh-CN" altLang="en-US" dirty="0"/>
              <a:t>在</a:t>
            </a:r>
            <a:r>
              <a:rPr lang="zh-CN" altLang="en-US" b="1" dirty="0"/>
              <a:t>现实约束条件下对产品、系统、组织或流程进行设计及优化</a:t>
            </a:r>
            <a:r>
              <a:rPr lang="zh-CN" altLang="en-US" dirty="0"/>
              <a:t>的能力。</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3600" b="1" dirty="0"/>
              <a:t>工程管理硕士专业学位论文</a:t>
            </a:r>
            <a:r>
              <a:rPr lang="zh-CN" altLang="en-US" sz="3600" b="1" dirty="0"/>
              <a:t>研究目的</a:t>
            </a:r>
          </a:p>
        </p:txBody>
      </p:sp>
      <p:sp>
        <p:nvSpPr>
          <p:cNvPr id="3" name="内容占位符 2"/>
          <p:cNvSpPr>
            <a:spLocks noGrp="1"/>
          </p:cNvSpPr>
          <p:nvPr>
            <p:ph idx="1"/>
          </p:nvPr>
        </p:nvSpPr>
        <p:spPr/>
        <p:txBody>
          <a:bodyPr>
            <a:normAutofit/>
          </a:bodyPr>
          <a:lstStyle/>
          <a:p>
            <a:pPr>
              <a:lnSpc>
                <a:spcPct val="120000"/>
              </a:lnSpc>
            </a:pPr>
            <a:r>
              <a:rPr lang="zh-CN" altLang="en-US" dirty="0"/>
              <a:t>学位论文</a:t>
            </a:r>
            <a:r>
              <a:rPr lang="zh-CN" altLang="zh-CN" dirty="0"/>
              <a:t>的设计和撰写是工程管理硕士专业研究生</a:t>
            </a:r>
            <a:r>
              <a:rPr lang="zh-CN" altLang="zh-CN" b="1" dirty="0"/>
              <a:t>能力培养</a:t>
            </a:r>
            <a:r>
              <a:rPr lang="zh-CN" altLang="zh-CN" dirty="0"/>
              <a:t>的重要环节</a:t>
            </a:r>
            <a:r>
              <a:rPr lang="zh-CN" altLang="en-US" dirty="0"/>
              <a:t>。</a:t>
            </a:r>
            <a:endParaRPr lang="en-US" altLang="zh-CN" dirty="0"/>
          </a:p>
          <a:p>
            <a:pPr>
              <a:lnSpc>
                <a:spcPct val="120000"/>
              </a:lnSpc>
            </a:pPr>
            <a:r>
              <a:rPr lang="zh-CN" altLang="zh-CN" b="1" dirty="0"/>
              <a:t>通过论文研究培养研究生综合运用所学基础理论、专门知识、专业技能独立从事相关领域研究、开发、管理和设计的能力</a:t>
            </a:r>
            <a:r>
              <a:rPr lang="zh-CN" altLang="en-US" b="1" dirty="0"/>
              <a:t>。</a:t>
            </a:r>
            <a:endParaRPr lang="en-US" altLang="zh-CN" b="1" dirty="0"/>
          </a:p>
          <a:p>
            <a:pPr>
              <a:lnSpc>
                <a:spcPct val="120000"/>
              </a:lnSpc>
            </a:pPr>
            <a:r>
              <a:rPr lang="zh-CN" altLang="zh-CN" dirty="0"/>
              <a:t>论文应在导师的指导下，由研究生独立完成，所需</a:t>
            </a:r>
            <a:r>
              <a:rPr lang="zh-CN" altLang="zh-CN" b="1" dirty="0"/>
              <a:t>工作量一般应不少于一学年</a:t>
            </a:r>
            <a:r>
              <a:rPr lang="zh-CN" alt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b="1" dirty="0"/>
              <a:t>工程管理硕士专业学位论文</a:t>
            </a:r>
            <a:r>
              <a:rPr lang="zh-CN" altLang="en-US" b="1" dirty="0"/>
              <a:t>的要求</a:t>
            </a:r>
          </a:p>
        </p:txBody>
      </p:sp>
      <p:sp>
        <p:nvSpPr>
          <p:cNvPr id="3" name="内容占位符 2"/>
          <p:cNvSpPr>
            <a:spLocks noGrp="1"/>
          </p:cNvSpPr>
          <p:nvPr>
            <p:ph idx="1"/>
          </p:nvPr>
        </p:nvSpPr>
        <p:spPr/>
        <p:txBody>
          <a:bodyPr>
            <a:normAutofit lnSpcReduction="10000"/>
          </a:bodyPr>
          <a:lstStyle/>
          <a:p>
            <a:pPr>
              <a:lnSpc>
                <a:spcPct val="120000"/>
              </a:lnSpc>
            </a:pPr>
            <a:r>
              <a:rPr lang="zh-CN" altLang="zh-CN" dirty="0"/>
              <a:t>必须体现工程管理专业特点，</a:t>
            </a:r>
            <a:r>
              <a:rPr lang="zh-CN" altLang="zh-CN" b="1" dirty="0"/>
              <a:t>既</a:t>
            </a:r>
            <a:r>
              <a:rPr lang="zh-CN" altLang="zh-CN" b="1" dirty="0">
                <a:solidFill>
                  <a:srgbClr val="0000FF"/>
                </a:solidFill>
              </a:rPr>
              <a:t>不是纯粹的学术理论研究，也不可以是实际工作的简单总结</a:t>
            </a:r>
            <a:r>
              <a:rPr lang="zh-CN" altLang="zh-CN" b="1" dirty="0"/>
              <a:t>，要充分反映工程应用背景、实践价值和</a:t>
            </a:r>
            <a:r>
              <a:rPr lang="zh-CN" altLang="zh-CN" b="1" dirty="0">
                <a:solidFill>
                  <a:srgbClr val="FF0000"/>
                </a:solidFill>
              </a:rPr>
              <a:t>工程管理方法的应用</a:t>
            </a:r>
            <a:r>
              <a:rPr lang="zh-CN" altLang="zh-CN" b="1" dirty="0"/>
              <a:t>。</a:t>
            </a:r>
            <a:endParaRPr lang="en-US" altLang="zh-CN" b="1" dirty="0"/>
          </a:p>
          <a:p>
            <a:pPr>
              <a:lnSpc>
                <a:spcPct val="120000"/>
              </a:lnSpc>
            </a:pPr>
            <a:r>
              <a:rPr lang="zh-CN" altLang="zh-CN" dirty="0"/>
              <a:t>学位论文</a:t>
            </a:r>
            <a:r>
              <a:rPr lang="zh-CN" altLang="zh-CN" u="sng" dirty="0"/>
              <a:t>应</a:t>
            </a:r>
            <a:r>
              <a:rPr lang="zh-CN" altLang="zh-CN" b="1" u="sng" dirty="0"/>
              <a:t>从实际的</a:t>
            </a:r>
            <a:r>
              <a:rPr lang="zh-CN" altLang="zh-CN" b="1" u="sng" dirty="0">
                <a:solidFill>
                  <a:srgbClr val="FF0000"/>
                </a:solidFill>
              </a:rPr>
              <a:t>工程管理实践</a:t>
            </a:r>
            <a:r>
              <a:rPr lang="zh-CN" altLang="zh-CN" b="1" u="sng" dirty="0"/>
              <a:t>中选择研究主题</a:t>
            </a:r>
            <a:r>
              <a:rPr lang="zh-CN" altLang="zh-CN" dirty="0"/>
              <a:t>，</a:t>
            </a:r>
            <a:r>
              <a:rPr lang="zh-CN" altLang="zh-CN" b="1" dirty="0"/>
              <a:t>运用所学的本专业的理论知识和科学方法</a:t>
            </a:r>
            <a:r>
              <a:rPr lang="zh-CN" altLang="zh-CN" b="1" dirty="0">
                <a:solidFill>
                  <a:srgbClr val="0000FF"/>
                </a:solidFill>
              </a:rPr>
              <a:t>解决问题</a:t>
            </a:r>
            <a:r>
              <a:rPr lang="zh-CN" altLang="zh-CN" dirty="0"/>
              <a:t>，取得明显的</a:t>
            </a:r>
            <a:r>
              <a:rPr lang="zh-CN" altLang="zh-CN" b="1" dirty="0"/>
              <a:t>工程</a:t>
            </a:r>
            <a:r>
              <a:rPr lang="zh-CN" altLang="zh-CN" b="1" dirty="0">
                <a:solidFill>
                  <a:srgbClr val="0000FF"/>
                </a:solidFill>
              </a:rPr>
              <a:t>应用效果</a:t>
            </a:r>
            <a:r>
              <a:rPr lang="zh-CN" altLang="zh-CN" dirty="0"/>
              <a:t>，体现作者一定的</a:t>
            </a:r>
            <a:r>
              <a:rPr lang="zh-CN" altLang="zh-CN" b="1" dirty="0">
                <a:solidFill>
                  <a:srgbClr val="FF0000"/>
                </a:solidFill>
              </a:rPr>
              <a:t>工程管理能力</a:t>
            </a:r>
            <a:r>
              <a:rPr lang="zh-CN"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b="1" dirty="0"/>
              <a:t>工程管理硕士专业学位论文</a:t>
            </a:r>
            <a:r>
              <a:rPr lang="zh-CN" altLang="en-US" b="1" dirty="0"/>
              <a:t>的要求</a:t>
            </a:r>
          </a:p>
        </p:txBody>
      </p:sp>
      <p:sp>
        <p:nvSpPr>
          <p:cNvPr id="3" name="内容占位符 2"/>
          <p:cNvSpPr>
            <a:spLocks noGrp="1"/>
          </p:cNvSpPr>
          <p:nvPr>
            <p:ph idx="1"/>
          </p:nvPr>
        </p:nvSpPr>
        <p:spPr>
          <a:xfrm>
            <a:off x="457200" y="1600201"/>
            <a:ext cx="8229600" cy="3268960"/>
          </a:xfrm>
        </p:spPr>
        <p:txBody>
          <a:bodyPr>
            <a:normAutofit/>
          </a:bodyPr>
          <a:lstStyle/>
          <a:p>
            <a:pPr>
              <a:lnSpc>
                <a:spcPct val="130000"/>
              </a:lnSpc>
            </a:pPr>
            <a:r>
              <a:rPr lang="zh-CN" altLang="zh-CN" sz="2800" b="1" dirty="0"/>
              <a:t>研究成果应对</a:t>
            </a:r>
            <a:r>
              <a:rPr lang="zh-CN" altLang="zh-CN" sz="2800" b="1" dirty="0">
                <a:solidFill>
                  <a:srgbClr val="FF0000"/>
                </a:solidFill>
              </a:rPr>
              <a:t>工程管理实践</a:t>
            </a:r>
            <a:r>
              <a:rPr lang="zh-CN" altLang="zh-CN" sz="2800" b="1" dirty="0"/>
              <a:t>具有一定的推广和应用价值。</a:t>
            </a:r>
            <a:endParaRPr lang="en-US" altLang="zh-CN" sz="2800" b="1" dirty="0"/>
          </a:p>
          <a:p>
            <a:pPr>
              <a:lnSpc>
                <a:spcPct val="130000"/>
              </a:lnSpc>
            </a:pPr>
            <a:r>
              <a:rPr lang="zh-CN" altLang="zh-CN" sz="2800" b="1" dirty="0"/>
              <a:t>要求研究生</a:t>
            </a:r>
            <a:r>
              <a:rPr lang="zh-CN" altLang="en-US" sz="2800" b="1" dirty="0"/>
              <a:t>恪守</a:t>
            </a:r>
            <a:r>
              <a:rPr lang="zh-CN" altLang="zh-CN" sz="2800" b="1" dirty="0"/>
              <a:t>学术诚信、学术道德和学术规范。</a:t>
            </a:r>
            <a:r>
              <a:rPr lang="zh-CN" altLang="zh-CN" sz="2800" dirty="0"/>
              <a:t>对</a:t>
            </a:r>
            <a:r>
              <a:rPr lang="zh-CN" altLang="zh-CN" sz="2800" b="1" dirty="0">
                <a:solidFill>
                  <a:srgbClr val="FF0000"/>
                </a:solidFill>
              </a:rPr>
              <a:t>抄袭、造假</a:t>
            </a:r>
            <a:r>
              <a:rPr lang="zh-CN" altLang="zh-CN" sz="2800" dirty="0"/>
              <a:t>等严重违反学术道德的论文，实行“</a:t>
            </a:r>
            <a:r>
              <a:rPr lang="zh-CN" altLang="zh-CN" sz="2800" b="1" dirty="0">
                <a:solidFill>
                  <a:srgbClr val="FF0000"/>
                </a:solidFill>
              </a:rPr>
              <a:t>一票否决</a:t>
            </a:r>
            <a:r>
              <a:rPr lang="zh-CN" altLang="zh-CN" sz="2800" dirty="0"/>
              <a:t>”。</a:t>
            </a:r>
            <a:endParaRPr lang="zh-CN" altLang="en-US" sz="2800" dirty="0"/>
          </a:p>
        </p:txBody>
      </p:sp>
      <p:sp>
        <p:nvSpPr>
          <p:cNvPr id="4" name="圆角矩形 3"/>
          <p:cNvSpPr/>
          <p:nvPr/>
        </p:nvSpPr>
        <p:spPr>
          <a:xfrm>
            <a:off x="4067944" y="4077072"/>
            <a:ext cx="3744416" cy="2448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t>工程背景、问题导向</a:t>
            </a:r>
            <a:endParaRPr lang="en-US" altLang="zh-CN" sz="2800" b="1" dirty="0"/>
          </a:p>
          <a:p>
            <a:pPr algn="ctr"/>
            <a:r>
              <a:rPr lang="zh-CN" altLang="en-US" sz="2800" b="1" dirty="0"/>
              <a:t>理论指导、数据支撑研究深入、成果实用</a:t>
            </a:r>
            <a:endParaRPr lang="en-US" altLang="zh-CN" sz="2800" b="1" dirty="0"/>
          </a:p>
          <a:p>
            <a:pPr algn="ctr"/>
            <a:r>
              <a:rPr lang="zh-CN" altLang="en-US" sz="2800" b="1" dirty="0"/>
              <a:t>论述严谨、写作规范</a:t>
            </a:r>
            <a:endParaRPr lang="en-US" altLang="zh-CN" sz="2800" b="1" dirty="0"/>
          </a:p>
          <a:p>
            <a:pPr algn="ctr"/>
            <a:r>
              <a:rPr lang="zh-CN" altLang="en-US" sz="2800" b="1" dirty="0"/>
              <a:t>工作饱满、独立完成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3600" b="1" dirty="0"/>
              <a:t>工程管理硕士专业学位论文</a:t>
            </a:r>
            <a:r>
              <a:rPr lang="zh-CN" altLang="en-US" sz="3600" b="1" dirty="0"/>
              <a:t>的主要形式</a:t>
            </a:r>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zh-CN" dirty="0"/>
              <a:t>应</a:t>
            </a:r>
            <a:r>
              <a:rPr lang="zh-CN" altLang="zh-CN" b="1" dirty="0"/>
              <a:t>以</a:t>
            </a:r>
            <a:r>
              <a:rPr lang="zh-CN" altLang="zh-CN" b="1" dirty="0">
                <a:solidFill>
                  <a:srgbClr val="0000FF"/>
                </a:solidFill>
              </a:rPr>
              <a:t>实践性论文</a:t>
            </a:r>
            <a:r>
              <a:rPr lang="zh-CN" altLang="zh-CN" b="1" dirty="0"/>
              <a:t>为主</a:t>
            </a:r>
            <a:r>
              <a:rPr lang="zh-CN" altLang="zh-CN" dirty="0"/>
              <a:t>，形式可以是专题研究、工程应用、工程案例分析等</a:t>
            </a:r>
            <a:r>
              <a:rPr lang="en-US" altLang="zh-CN" dirty="0"/>
              <a:t>3</a:t>
            </a:r>
            <a:r>
              <a:rPr lang="zh-CN" altLang="zh-CN" dirty="0"/>
              <a:t>种形式</a:t>
            </a:r>
            <a:r>
              <a:rPr lang="zh-CN" altLang="en-US" dirty="0"/>
              <a:t>：</a:t>
            </a:r>
            <a:endParaRPr lang="en-US" altLang="zh-CN" dirty="0"/>
          </a:p>
          <a:p>
            <a:pPr>
              <a:lnSpc>
                <a:spcPct val="110000"/>
              </a:lnSpc>
              <a:buNone/>
            </a:pPr>
            <a:r>
              <a:rPr lang="en-US" altLang="zh-CN" dirty="0"/>
              <a:t>——</a:t>
            </a:r>
            <a:r>
              <a:rPr lang="zh-CN" altLang="zh-CN" b="1" dirty="0"/>
              <a:t>专题研究类</a:t>
            </a:r>
            <a:r>
              <a:rPr lang="zh-CN" altLang="zh-CN" dirty="0"/>
              <a:t>是对某一类</a:t>
            </a:r>
            <a:r>
              <a:rPr lang="zh-CN" altLang="en-US" dirty="0"/>
              <a:t>（个）工程实践具体</a:t>
            </a:r>
            <a:r>
              <a:rPr lang="zh-CN" altLang="zh-CN" dirty="0"/>
              <a:t>问题进行研究的论文</a:t>
            </a:r>
            <a:endParaRPr lang="en-US" altLang="zh-CN" dirty="0"/>
          </a:p>
          <a:p>
            <a:pPr>
              <a:lnSpc>
                <a:spcPct val="110000"/>
              </a:lnSpc>
              <a:buNone/>
            </a:pPr>
            <a:r>
              <a:rPr lang="en-US" altLang="zh-CN" dirty="0"/>
              <a:t>——</a:t>
            </a:r>
            <a:r>
              <a:rPr lang="zh-CN" altLang="zh-CN" b="1" dirty="0"/>
              <a:t>工程应用类</a:t>
            </a:r>
            <a:r>
              <a:rPr lang="zh-CN" altLang="zh-CN" dirty="0"/>
              <a:t>是突出某理论或方法在某个工程中应用的论文</a:t>
            </a:r>
            <a:r>
              <a:rPr lang="zh-CN" altLang="en-US" dirty="0"/>
              <a:t>，如</a:t>
            </a:r>
            <a:r>
              <a:rPr lang="zh-CN" altLang="zh-CN" dirty="0"/>
              <a:t>工程管理模型与方法、工程管理方案设计、管理诊断</a:t>
            </a:r>
            <a:r>
              <a:rPr lang="zh-CN" altLang="en-US" dirty="0"/>
              <a:t>等</a:t>
            </a:r>
            <a:endParaRPr lang="en-US" altLang="zh-CN" dirty="0"/>
          </a:p>
          <a:p>
            <a:pPr>
              <a:lnSpc>
                <a:spcPct val="110000"/>
              </a:lnSpc>
              <a:buNone/>
            </a:pPr>
            <a:r>
              <a:rPr lang="en-US" altLang="zh-CN" dirty="0"/>
              <a:t>——</a:t>
            </a:r>
            <a:r>
              <a:rPr lang="zh-CN" altLang="zh-CN" b="1" dirty="0"/>
              <a:t>工程案例分析类</a:t>
            </a:r>
            <a:r>
              <a:rPr lang="zh-CN" altLang="zh-CN" dirty="0"/>
              <a:t>是以某工程或项目为分析核心，得出可推广结论的论文</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ext uri="{D42A27DB-BD31-4B8C-83A1-F6EECF244321}">
                <p14:modId xmlns:p14="http://schemas.microsoft.com/office/powerpoint/2010/main" val="8004720"/>
              </p:ext>
            </p:extLst>
          </p:nvPr>
        </p:nvGraphicFramePr>
        <p:xfrm>
          <a:off x="111272" y="95536"/>
          <a:ext cx="8964490" cy="5913120"/>
        </p:xfrm>
        <a:graphic>
          <a:graphicData uri="http://schemas.openxmlformats.org/drawingml/2006/table">
            <a:tbl>
              <a:tblPr firstRow="1" bandRow="1">
                <a:tableStyleId>{5C22544A-7EE6-4342-B048-85BDC9FD1C3A}</a:tableStyleId>
              </a:tblPr>
              <a:tblGrid>
                <a:gridCol w="572296">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2070094">
                  <a:extLst>
                    <a:ext uri="{9D8B030D-6E8A-4147-A177-3AD203B41FA5}">
                      <a16:colId xmlns:a16="http://schemas.microsoft.com/office/drawing/2014/main" val="20002"/>
                    </a:ext>
                  </a:extLst>
                </a:gridCol>
                <a:gridCol w="2038130">
                  <a:extLst>
                    <a:ext uri="{9D8B030D-6E8A-4147-A177-3AD203B41FA5}">
                      <a16:colId xmlns:a16="http://schemas.microsoft.com/office/drawing/2014/main" val="20003"/>
                    </a:ext>
                  </a:extLst>
                </a:gridCol>
                <a:gridCol w="1547666">
                  <a:extLst>
                    <a:ext uri="{9D8B030D-6E8A-4147-A177-3AD203B41FA5}">
                      <a16:colId xmlns:a16="http://schemas.microsoft.com/office/drawing/2014/main" val="20004"/>
                    </a:ext>
                  </a:extLst>
                </a:gridCol>
              </a:tblGrid>
              <a:tr h="149736">
                <a:tc>
                  <a:txBody>
                    <a:bodyPr/>
                    <a:lstStyle/>
                    <a:p>
                      <a:r>
                        <a:rPr lang="zh-CN" altLang="en-US" sz="1400" dirty="0"/>
                        <a:t>形式</a:t>
                      </a:r>
                    </a:p>
                  </a:txBody>
                  <a:tcPr/>
                </a:tc>
                <a:tc>
                  <a:txBody>
                    <a:bodyPr/>
                    <a:lstStyle/>
                    <a:p>
                      <a:r>
                        <a:rPr lang="zh-CN" altLang="en-US" sz="1400" dirty="0"/>
                        <a:t>选题</a:t>
                      </a:r>
                    </a:p>
                  </a:txBody>
                  <a:tcPr/>
                </a:tc>
                <a:tc>
                  <a:txBody>
                    <a:bodyPr/>
                    <a:lstStyle/>
                    <a:p>
                      <a:r>
                        <a:rPr lang="zh-CN" altLang="zh-CN" sz="1400" b="1" kern="1200" dirty="0">
                          <a:solidFill>
                            <a:schemeClr val="lt1"/>
                          </a:solidFill>
                          <a:latin typeface="+mn-lt"/>
                          <a:ea typeface="+mn-ea"/>
                          <a:cs typeface="+mn-cs"/>
                        </a:rPr>
                        <a:t>研究内容</a:t>
                      </a:r>
                      <a:endParaRPr lang="zh-CN" altLang="en-US" sz="1400" dirty="0"/>
                    </a:p>
                  </a:txBody>
                  <a:tcPr/>
                </a:tc>
                <a:tc>
                  <a:txBody>
                    <a:bodyPr/>
                    <a:lstStyle/>
                    <a:p>
                      <a:r>
                        <a:rPr lang="zh-CN" altLang="zh-CN" sz="1400" b="1" kern="1200" dirty="0">
                          <a:solidFill>
                            <a:schemeClr val="lt1"/>
                          </a:solidFill>
                          <a:latin typeface="+mn-lt"/>
                          <a:ea typeface="+mn-ea"/>
                          <a:cs typeface="+mn-cs"/>
                        </a:rPr>
                        <a:t>研究方法</a:t>
                      </a:r>
                      <a:endParaRPr lang="zh-CN" altLang="en-US" sz="1400" dirty="0"/>
                    </a:p>
                  </a:txBody>
                  <a:tcPr/>
                </a:tc>
                <a:tc>
                  <a:txBody>
                    <a:bodyPr/>
                    <a:lstStyle/>
                    <a:p>
                      <a:r>
                        <a:rPr lang="zh-CN" altLang="zh-CN" sz="1400" b="1" kern="1200" dirty="0">
                          <a:solidFill>
                            <a:schemeClr val="lt1"/>
                          </a:solidFill>
                          <a:latin typeface="+mn-lt"/>
                          <a:ea typeface="+mn-ea"/>
                          <a:cs typeface="+mn-cs"/>
                        </a:rPr>
                        <a:t>研究成果</a:t>
                      </a:r>
                      <a:endParaRPr lang="zh-CN" altLang="en-US" sz="1400" dirty="0"/>
                    </a:p>
                  </a:txBody>
                  <a:tcPr/>
                </a:tc>
                <a:extLst>
                  <a:ext uri="{0D108BD9-81ED-4DB2-BD59-A6C34878D82A}">
                    <a16:rowId xmlns:a16="http://schemas.microsoft.com/office/drawing/2014/main" val="10000"/>
                  </a:ext>
                </a:extLst>
              </a:tr>
              <a:tr h="370840">
                <a:tc>
                  <a:txBody>
                    <a:bodyPr/>
                    <a:lstStyle/>
                    <a:p>
                      <a:r>
                        <a:rPr lang="zh-CN" altLang="en-US" sz="1400" dirty="0"/>
                        <a:t>专题</a:t>
                      </a:r>
                    </a:p>
                  </a:txBody>
                  <a:tcPr/>
                </a:tc>
                <a:tc>
                  <a:txBody>
                    <a:bodyPr/>
                    <a:lstStyle/>
                    <a:p>
                      <a:r>
                        <a:rPr lang="zh-CN" altLang="en-US" sz="1400" kern="1200" baseline="0" dirty="0">
                          <a:solidFill>
                            <a:schemeClr val="dk1"/>
                          </a:solidFill>
                          <a:latin typeface="+mn-lt"/>
                          <a:ea typeface="+mn-ea"/>
                          <a:cs typeface="+mn-cs"/>
                        </a:rPr>
                        <a:t>针对</a:t>
                      </a:r>
                      <a:r>
                        <a:rPr lang="zh-CN" altLang="en-US" sz="1400" b="1" kern="1200" baseline="0" dirty="0">
                          <a:solidFill>
                            <a:schemeClr val="dk1"/>
                          </a:solidFill>
                          <a:latin typeface="+mn-lt"/>
                          <a:ea typeface="+mn-ea"/>
                          <a:cs typeface="+mn-cs"/>
                        </a:rPr>
                        <a:t>工程实践</a:t>
                      </a:r>
                      <a:r>
                        <a:rPr lang="en-US" altLang="zh-CN" sz="1400" b="1" kern="1200" baseline="0" dirty="0">
                          <a:solidFill>
                            <a:schemeClr val="dk1"/>
                          </a:solidFill>
                          <a:latin typeface="+mn-lt"/>
                          <a:ea typeface="+mn-ea"/>
                          <a:cs typeface="+mn-cs"/>
                        </a:rPr>
                        <a:t>(</a:t>
                      </a:r>
                      <a:r>
                        <a:rPr lang="zh-CN" altLang="en-US" sz="1400" b="1" kern="1200" baseline="0" dirty="0">
                          <a:solidFill>
                            <a:schemeClr val="dk1"/>
                          </a:solidFill>
                          <a:latin typeface="+mn-lt"/>
                          <a:ea typeface="+mn-ea"/>
                          <a:cs typeface="+mn-cs"/>
                        </a:rPr>
                        <a:t>研发工程、制造工程、建设工程</a:t>
                      </a:r>
                      <a:r>
                        <a:rPr lang="en-US" altLang="zh-CN" sz="1400" b="1" kern="1200" baseline="0" dirty="0">
                          <a:solidFill>
                            <a:schemeClr val="dk1"/>
                          </a:solidFill>
                          <a:latin typeface="+mn-lt"/>
                          <a:ea typeface="+mn-ea"/>
                          <a:cs typeface="+mn-cs"/>
                        </a:rPr>
                        <a:t>)</a:t>
                      </a:r>
                      <a:r>
                        <a:rPr lang="zh-CN" altLang="en-US" sz="1400" b="1" kern="1200" baseline="0" dirty="0">
                          <a:solidFill>
                            <a:schemeClr val="dk1"/>
                          </a:solidFill>
                          <a:latin typeface="+mn-lt"/>
                          <a:ea typeface="+mn-ea"/>
                          <a:cs typeface="+mn-cs"/>
                        </a:rPr>
                        <a:t>中的某个或 某类具体问题</a:t>
                      </a:r>
                      <a:r>
                        <a:rPr lang="zh-CN" altLang="en-US" sz="1400" kern="1200" baseline="0" dirty="0">
                          <a:solidFill>
                            <a:schemeClr val="dk1"/>
                          </a:solidFill>
                          <a:latin typeface="+mn-lt"/>
                          <a:ea typeface="+mn-ea"/>
                          <a:cs typeface="+mn-cs"/>
                        </a:rPr>
                        <a:t>，通过</a:t>
                      </a:r>
                      <a:r>
                        <a:rPr lang="zh-CN" altLang="en-US" sz="1400" b="1" kern="1200" baseline="0" dirty="0">
                          <a:solidFill>
                            <a:schemeClr val="dk1"/>
                          </a:solidFill>
                          <a:latin typeface="+mn-lt"/>
                          <a:ea typeface="+mn-ea"/>
                          <a:cs typeface="+mn-cs"/>
                        </a:rPr>
                        <a:t>比较深入、系统的研究</a:t>
                      </a:r>
                      <a:r>
                        <a:rPr lang="zh-CN" altLang="en-US" sz="1400" kern="1200" baseline="0" dirty="0">
                          <a:solidFill>
                            <a:schemeClr val="dk1"/>
                          </a:solidFill>
                          <a:latin typeface="+mn-lt"/>
                          <a:ea typeface="+mn-ea"/>
                          <a:cs typeface="+mn-cs"/>
                        </a:rPr>
                        <a:t>，</a:t>
                      </a:r>
                      <a:r>
                        <a:rPr lang="zh-CN" altLang="en-US" sz="1400" b="1" kern="1200" baseline="0" dirty="0">
                          <a:solidFill>
                            <a:schemeClr val="dk1"/>
                          </a:solidFill>
                          <a:latin typeface="+mn-lt"/>
                          <a:ea typeface="+mn-ea"/>
                          <a:cs typeface="+mn-cs"/>
                        </a:rPr>
                        <a:t>综合运用管理学和工程学的理论和方法</a:t>
                      </a:r>
                      <a:r>
                        <a:rPr lang="zh-CN" altLang="en-US" sz="1400" kern="1200" baseline="0" dirty="0">
                          <a:solidFill>
                            <a:schemeClr val="dk1"/>
                          </a:solidFill>
                          <a:latin typeface="+mn-lt"/>
                          <a:ea typeface="+mn-ea"/>
                          <a:cs typeface="+mn-cs"/>
                        </a:rPr>
                        <a:t>进行分析和阐述</a:t>
                      </a:r>
                      <a:endParaRPr lang="zh-CN" altLang="en-US" sz="1400" dirty="0"/>
                    </a:p>
                  </a:txBody>
                  <a:tcPr/>
                </a:tc>
                <a:tc>
                  <a:txBody>
                    <a:bodyPr/>
                    <a:lstStyle/>
                    <a:p>
                      <a:r>
                        <a:rPr lang="zh-CN" altLang="en-US" sz="1400" kern="1200" baseline="0" dirty="0">
                          <a:solidFill>
                            <a:schemeClr val="dk1"/>
                          </a:solidFill>
                          <a:latin typeface="+mn-lt"/>
                          <a:ea typeface="+mn-ea"/>
                          <a:cs typeface="+mn-cs"/>
                        </a:rPr>
                        <a:t>对工程实践中某个具体议题的现有国内外研究进行概括和分析，</a:t>
                      </a:r>
                      <a:r>
                        <a:rPr lang="zh-CN" altLang="en-US" sz="1400" b="1" kern="1200" baseline="0" dirty="0">
                          <a:solidFill>
                            <a:schemeClr val="dk1"/>
                          </a:solidFill>
                          <a:latin typeface="+mn-lt"/>
                          <a:ea typeface="+mn-ea"/>
                          <a:cs typeface="+mn-cs"/>
                        </a:rPr>
                        <a:t>有针对性地提出自己的观点，充分展开论证，</a:t>
                      </a:r>
                      <a:r>
                        <a:rPr lang="zh-CN" altLang="en-US" sz="1400" b="1" kern="1200" baseline="0" dirty="0">
                          <a:solidFill>
                            <a:srgbClr val="FF0000"/>
                          </a:solidFill>
                          <a:latin typeface="+mn-lt"/>
                          <a:ea typeface="+mn-ea"/>
                          <a:cs typeface="+mn-cs"/>
                        </a:rPr>
                        <a:t>在实践中验证所提出的理论和方法</a:t>
                      </a:r>
                      <a:r>
                        <a:rPr lang="zh-CN" altLang="en-US" sz="1400" b="1" kern="1200" baseline="0" dirty="0">
                          <a:solidFill>
                            <a:schemeClr val="dk1"/>
                          </a:solidFill>
                          <a:latin typeface="+mn-lt"/>
                          <a:ea typeface="+mn-ea"/>
                          <a:cs typeface="+mn-cs"/>
                        </a:rPr>
                        <a:t>。</a:t>
                      </a:r>
                      <a:r>
                        <a:rPr lang="zh-CN" altLang="en-US" sz="1400" kern="1200" baseline="0" dirty="0">
                          <a:solidFill>
                            <a:schemeClr val="dk1"/>
                          </a:solidFill>
                          <a:latin typeface="+mn-lt"/>
                          <a:ea typeface="+mn-ea"/>
                          <a:cs typeface="+mn-cs"/>
                        </a:rPr>
                        <a:t>论文要求具有一定的</a:t>
                      </a:r>
                      <a:r>
                        <a:rPr lang="zh-CN" altLang="en-US" sz="1400" b="1" kern="1200" baseline="0" dirty="0">
                          <a:solidFill>
                            <a:schemeClr val="dk1"/>
                          </a:solidFill>
                          <a:latin typeface="+mn-lt"/>
                          <a:ea typeface="+mn-ea"/>
                          <a:cs typeface="+mn-cs"/>
                        </a:rPr>
                        <a:t>创新性，工作量</a:t>
                      </a:r>
                      <a:r>
                        <a:rPr lang="zh-CN" altLang="en-US" sz="1400" kern="1200" baseline="0" dirty="0">
                          <a:solidFill>
                            <a:schemeClr val="dk1"/>
                          </a:solidFill>
                          <a:latin typeface="+mn-lt"/>
                          <a:ea typeface="+mn-ea"/>
                          <a:cs typeface="+mn-cs"/>
                        </a:rPr>
                        <a:t>饱满。 </a:t>
                      </a:r>
                      <a:endParaRPr lang="zh-CN" altLang="en-US" sz="1400" b="1" dirty="0">
                        <a:solidFill>
                          <a:srgbClr val="FF0000"/>
                        </a:solidFill>
                      </a:endParaRPr>
                    </a:p>
                  </a:txBody>
                  <a:tcPr/>
                </a:tc>
                <a:tc>
                  <a:txBody>
                    <a:bodyPr/>
                    <a:lstStyle/>
                    <a:p>
                      <a:r>
                        <a:rPr lang="zh-CN" altLang="zh-CN" sz="1400" kern="1200" dirty="0">
                          <a:solidFill>
                            <a:schemeClr val="dk1"/>
                          </a:solidFill>
                          <a:latin typeface="+mn-lt"/>
                          <a:ea typeface="+mn-ea"/>
                          <a:cs typeface="+mn-cs"/>
                        </a:rPr>
                        <a:t>应围绕研究对象开展研究，</a:t>
                      </a:r>
                      <a:r>
                        <a:rPr lang="zh-CN" altLang="zh-CN" sz="1400" b="1" kern="1200" dirty="0">
                          <a:solidFill>
                            <a:schemeClr val="dk1"/>
                          </a:solidFill>
                          <a:latin typeface="+mn-lt"/>
                          <a:ea typeface="+mn-ea"/>
                          <a:cs typeface="+mn-cs"/>
                        </a:rPr>
                        <a:t>须有一定的深度和广度</a:t>
                      </a:r>
                      <a:r>
                        <a:rPr lang="zh-CN" altLang="zh-CN" sz="1400" kern="1200" dirty="0">
                          <a:solidFill>
                            <a:schemeClr val="dk1"/>
                          </a:solidFill>
                          <a:latin typeface="+mn-lt"/>
                          <a:ea typeface="+mn-ea"/>
                          <a:cs typeface="+mn-cs"/>
                        </a:rPr>
                        <a:t>，</a:t>
                      </a:r>
                      <a:r>
                        <a:rPr lang="zh-CN" altLang="zh-CN" sz="1400" b="1" kern="1200" dirty="0">
                          <a:solidFill>
                            <a:schemeClr val="dk1"/>
                          </a:solidFill>
                          <a:latin typeface="+mn-lt"/>
                          <a:ea typeface="+mn-ea"/>
                          <a:cs typeface="+mn-cs"/>
                        </a:rPr>
                        <a:t>综合运用管理和工程</a:t>
                      </a:r>
                      <a:r>
                        <a:rPr lang="zh-CN" altLang="zh-CN" sz="1400" kern="1200" dirty="0">
                          <a:solidFill>
                            <a:schemeClr val="dk1"/>
                          </a:solidFill>
                          <a:latin typeface="+mn-lt"/>
                          <a:ea typeface="+mn-ea"/>
                          <a:cs typeface="+mn-cs"/>
                        </a:rPr>
                        <a:t>领域的基础理论和专业知识对问题进行分析和研究，采取规范、科学、合理的研究方法，形成</a:t>
                      </a:r>
                      <a:r>
                        <a:rPr lang="zh-CN" altLang="zh-CN" sz="1400" b="1" kern="1200" dirty="0">
                          <a:solidFill>
                            <a:schemeClr val="dk1"/>
                          </a:solidFill>
                          <a:latin typeface="+mn-lt"/>
                          <a:ea typeface="+mn-ea"/>
                          <a:cs typeface="+mn-cs"/>
                        </a:rPr>
                        <a:t>完整的具有一定指导实践价值</a:t>
                      </a:r>
                      <a:r>
                        <a:rPr lang="zh-CN" altLang="zh-CN" sz="1400" kern="1200" dirty="0">
                          <a:solidFill>
                            <a:schemeClr val="dk1"/>
                          </a:solidFill>
                          <a:latin typeface="+mn-lt"/>
                          <a:ea typeface="+mn-ea"/>
                          <a:cs typeface="+mn-cs"/>
                        </a:rPr>
                        <a:t>的学位论文。</a:t>
                      </a:r>
                      <a:endParaRPr lang="zh-CN" altLang="en-US" sz="1400" dirty="0"/>
                    </a:p>
                  </a:txBody>
                  <a:tcPr/>
                </a:tc>
                <a:tc>
                  <a:txBody>
                    <a:bodyPr/>
                    <a:lstStyle/>
                    <a:p>
                      <a:r>
                        <a:rPr lang="zh-CN" altLang="zh-CN" sz="1400" kern="1200" dirty="0">
                          <a:solidFill>
                            <a:schemeClr val="dk1"/>
                          </a:solidFill>
                          <a:latin typeface="+mn-lt"/>
                          <a:ea typeface="+mn-ea"/>
                          <a:cs typeface="+mn-cs"/>
                        </a:rPr>
                        <a:t>通过</a:t>
                      </a:r>
                      <a:r>
                        <a:rPr lang="zh-CN" altLang="zh-CN" sz="1400" b="1" kern="1200" dirty="0">
                          <a:solidFill>
                            <a:schemeClr val="dk1"/>
                          </a:solidFill>
                          <a:latin typeface="+mn-lt"/>
                          <a:ea typeface="+mn-ea"/>
                          <a:cs typeface="+mn-cs"/>
                        </a:rPr>
                        <a:t>严密的逻辑论证</a:t>
                      </a:r>
                      <a:r>
                        <a:rPr lang="zh-CN" altLang="zh-CN" sz="1400" kern="1200" dirty="0">
                          <a:solidFill>
                            <a:schemeClr val="dk1"/>
                          </a:solidFill>
                          <a:latin typeface="+mn-lt"/>
                          <a:ea typeface="+mn-ea"/>
                          <a:cs typeface="+mn-cs"/>
                        </a:rPr>
                        <a:t>，给出明确的研究结论，提出相应的对策和建议。成果应体现作者观点的</a:t>
                      </a:r>
                      <a:r>
                        <a:rPr lang="zh-CN" altLang="zh-CN" sz="1400" b="1" kern="1200" dirty="0">
                          <a:solidFill>
                            <a:srgbClr val="FF0000"/>
                          </a:solidFill>
                          <a:latin typeface="+mn-lt"/>
                          <a:ea typeface="+mn-ea"/>
                          <a:cs typeface="+mn-cs"/>
                        </a:rPr>
                        <a:t>创新性</a:t>
                      </a:r>
                      <a:r>
                        <a:rPr lang="zh-CN" altLang="zh-CN" sz="1400" kern="1200" dirty="0">
                          <a:solidFill>
                            <a:schemeClr val="dk1"/>
                          </a:solidFill>
                          <a:latin typeface="+mn-lt"/>
                          <a:ea typeface="+mn-ea"/>
                          <a:cs typeface="+mn-cs"/>
                        </a:rPr>
                        <a:t>。</a:t>
                      </a:r>
                      <a:endParaRPr lang="zh-CN" altLang="en-US" sz="1400" dirty="0"/>
                    </a:p>
                  </a:txBody>
                  <a:tcPr/>
                </a:tc>
                <a:extLst>
                  <a:ext uri="{0D108BD9-81ED-4DB2-BD59-A6C34878D82A}">
                    <a16:rowId xmlns:a16="http://schemas.microsoft.com/office/drawing/2014/main" val="10001"/>
                  </a:ext>
                </a:extLst>
              </a:tr>
              <a:tr h="370840">
                <a:tc>
                  <a:txBody>
                    <a:bodyPr/>
                    <a:lstStyle/>
                    <a:p>
                      <a:r>
                        <a:rPr lang="zh-CN" altLang="en-US" sz="1400" dirty="0"/>
                        <a:t>应用</a:t>
                      </a:r>
                    </a:p>
                  </a:txBody>
                  <a:tcPr/>
                </a:tc>
                <a:tc>
                  <a:txBody>
                    <a:bodyPr/>
                    <a:lstStyle/>
                    <a:p>
                      <a:r>
                        <a:rPr lang="zh-CN" altLang="zh-CN" sz="1400" kern="1200" dirty="0">
                          <a:solidFill>
                            <a:schemeClr val="dk1"/>
                          </a:solidFill>
                          <a:latin typeface="+mn-lt"/>
                          <a:ea typeface="+mn-ea"/>
                          <a:cs typeface="+mn-cs"/>
                        </a:rPr>
                        <a:t>应来源于工程实际或具有明确的工程应用背景，是</a:t>
                      </a:r>
                      <a:r>
                        <a:rPr lang="zh-CN" altLang="zh-CN" sz="1400" b="1" kern="1200" dirty="0">
                          <a:solidFill>
                            <a:schemeClr val="dk1"/>
                          </a:solidFill>
                          <a:latin typeface="+mn-lt"/>
                          <a:ea typeface="+mn-ea"/>
                          <a:cs typeface="+mn-cs"/>
                        </a:rPr>
                        <a:t>管理的新理论、新方法、新技术</a:t>
                      </a:r>
                      <a:r>
                        <a:rPr lang="zh-CN" altLang="zh-CN" sz="1400" kern="1200" dirty="0">
                          <a:solidFill>
                            <a:schemeClr val="dk1"/>
                          </a:solidFill>
                          <a:latin typeface="+mn-lt"/>
                          <a:ea typeface="+mn-ea"/>
                          <a:cs typeface="+mn-cs"/>
                        </a:rPr>
                        <a:t>等在工程中的应用研究。论题具有一定的社会价值或工程应用前景。</a:t>
                      </a:r>
                      <a:endParaRPr lang="zh-CN" altLang="en-US" sz="1400" dirty="0"/>
                    </a:p>
                  </a:txBody>
                  <a:tcPr/>
                </a:tc>
                <a:tc>
                  <a:txBody>
                    <a:bodyPr/>
                    <a:lstStyle/>
                    <a:p>
                      <a:r>
                        <a:rPr lang="zh-CN" altLang="zh-CN" sz="1400" kern="1200" dirty="0">
                          <a:solidFill>
                            <a:schemeClr val="dk1"/>
                          </a:solidFill>
                          <a:latin typeface="+mn-lt"/>
                          <a:ea typeface="+mn-ea"/>
                          <a:cs typeface="+mn-cs"/>
                        </a:rPr>
                        <a:t>应</a:t>
                      </a:r>
                      <a:r>
                        <a:rPr lang="zh-CN" altLang="zh-CN" sz="1400" b="1" kern="1200" dirty="0">
                          <a:solidFill>
                            <a:schemeClr val="dk1"/>
                          </a:solidFill>
                          <a:latin typeface="+mn-lt"/>
                          <a:ea typeface="+mn-ea"/>
                          <a:cs typeface="+mn-cs"/>
                        </a:rPr>
                        <a:t>关注管理领域的新成果</a:t>
                      </a:r>
                      <a:r>
                        <a:rPr lang="zh-CN" altLang="zh-CN" sz="1400" kern="1200" dirty="0">
                          <a:solidFill>
                            <a:schemeClr val="dk1"/>
                          </a:solidFill>
                          <a:latin typeface="+mn-lt"/>
                          <a:ea typeface="+mn-ea"/>
                          <a:cs typeface="+mn-cs"/>
                        </a:rPr>
                        <a:t>，对工程实际问题进行论证分析，</a:t>
                      </a:r>
                      <a:r>
                        <a:rPr lang="zh-CN" altLang="zh-CN" sz="1400" b="1" kern="1200" dirty="0">
                          <a:solidFill>
                            <a:schemeClr val="dk1"/>
                          </a:solidFill>
                          <a:latin typeface="+mn-lt"/>
                          <a:ea typeface="+mn-ea"/>
                          <a:cs typeface="+mn-cs"/>
                        </a:rPr>
                        <a:t>促进管理技术创新及推广应用</a:t>
                      </a:r>
                      <a:r>
                        <a:rPr lang="zh-CN" altLang="zh-CN" sz="1400" kern="1200" dirty="0">
                          <a:solidFill>
                            <a:schemeClr val="dk1"/>
                          </a:solidFill>
                          <a:latin typeface="+mn-lt"/>
                          <a:ea typeface="+mn-ea"/>
                          <a:cs typeface="+mn-cs"/>
                        </a:rPr>
                        <a:t>，形成一个完整的包括调查研究、分析论证和成果设计在内的学位论文。</a:t>
                      </a:r>
                      <a:endParaRPr lang="zh-CN" altLang="en-US" sz="1400" dirty="0"/>
                    </a:p>
                  </a:txBody>
                  <a:tcPr/>
                </a:tc>
                <a:tc>
                  <a:txBody>
                    <a:bodyPr/>
                    <a:lstStyle/>
                    <a:p>
                      <a:r>
                        <a:rPr lang="zh-CN" altLang="zh-CN" sz="1400" kern="1200" dirty="0">
                          <a:solidFill>
                            <a:schemeClr val="dk1"/>
                          </a:solidFill>
                          <a:latin typeface="+mn-lt"/>
                          <a:ea typeface="+mn-ea"/>
                          <a:cs typeface="+mn-cs"/>
                        </a:rPr>
                        <a:t>将</a:t>
                      </a:r>
                      <a:r>
                        <a:rPr lang="zh-CN" altLang="zh-CN" sz="1400" b="1" kern="1200" dirty="0">
                          <a:solidFill>
                            <a:srgbClr val="FF0000"/>
                          </a:solidFill>
                          <a:latin typeface="+mn-lt"/>
                          <a:ea typeface="+mn-ea"/>
                          <a:cs typeface="+mn-cs"/>
                        </a:rPr>
                        <a:t>管理领域的理论和专业知识应用于工程实践中</a:t>
                      </a:r>
                      <a:r>
                        <a:rPr lang="zh-CN" altLang="zh-CN" sz="1400" kern="1200" dirty="0">
                          <a:solidFill>
                            <a:schemeClr val="dk1"/>
                          </a:solidFill>
                          <a:latin typeface="+mn-lt"/>
                          <a:ea typeface="+mn-ea"/>
                          <a:cs typeface="+mn-cs"/>
                        </a:rPr>
                        <a:t>。对研究具体问题进行分析研究，采取规范、科学、合理的方法和程序；通过资料检索、定性与定量分析等技术开展，设计合理方案。</a:t>
                      </a:r>
                      <a:endParaRPr lang="zh-CN" altLang="en-US" sz="1400" dirty="0"/>
                    </a:p>
                  </a:txBody>
                  <a:tcPr/>
                </a:tc>
                <a:tc>
                  <a:txBody>
                    <a:bodyPr/>
                    <a:lstStyle/>
                    <a:p>
                      <a:r>
                        <a:rPr lang="zh-CN" altLang="zh-CN" sz="1400" kern="1200" dirty="0">
                          <a:solidFill>
                            <a:schemeClr val="dk1"/>
                          </a:solidFill>
                          <a:latin typeface="+mn-lt"/>
                          <a:ea typeface="+mn-ea"/>
                          <a:cs typeface="+mn-cs"/>
                        </a:rPr>
                        <a:t>研究成果应具有</a:t>
                      </a:r>
                      <a:r>
                        <a:rPr lang="zh-CN" altLang="zh-CN" sz="1400" b="1" kern="1200" dirty="0">
                          <a:solidFill>
                            <a:schemeClr val="dk1"/>
                          </a:solidFill>
                          <a:latin typeface="+mn-lt"/>
                          <a:ea typeface="+mn-ea"/>
                          <a:cs typeface="+mn-cs"/>
                        </a:rPr>
                        <a:t>一定的</a:t>
                      </a:r>
                      <a:r>
                        <a:rPr lang="zh-CN" altLang="zh-CN" sz="1400" b="1" kern="1200" dirty="0">
                          <a:solidFill>
                            <a:srgbClr val="FF0000"/>
                          </a:solidFill>
                          <a:latin typeface="+mn-lt"/>
                          <a:ea typeface="+mn-ea"/>
                          <a:cs typeface="+mn-cs"/>
                        </a:rPr>
                        <a:t>先进性</a:t>
                      </a:r>
                      <a:r>
                        <a:rPr lang="zh-CN" altLang="zh-CN" sz="1400" b="1" kern="1200" dirty="0">
                          <a:solidFill>
                            <a:schemeClr val="dk1"/>
                          </a:solidFill>
                          <a:latin typeface="+mn-lt"/>
                          <a:ea typeface="+mn-ea"/>
                          <a:cs typeface="+mn-cs"/>
                        </a:rPr>
                        <a:t>或实际应用价值</a:t>
                      </a:r>
                      <a:r>
                        <a:rPr lang="zh-CN" altLang="zh-CN" sz="1400" kern="1200" dirty="0">
                          <a:solidFill>
                            <a:schemeClr val="dk1"/>
                          </a:solidFill>
                          <a:latin typeface="+mn-lt"/>
                          <a:ea typeface="+mn-ea"/>
                          <a:cs typeface="+mn-cs"/>
                        </a:rPr>
                        <a:t>，成果应体现作者的</a:t>
                      </a:r>
                      <a:r>
                        <a:rPr lang="zh-CN" altLang="zh-CN" sz="1400" b="1" kern="1200" dirty="0">
                          <a:solidFill>
                            <a:schemeClr val="dk1"/>
                          </a:solidFill>
                          <a:latin typeface="+mn-lt"/>
                          <a:ea typeface="+mn-ea"/>
                          <a:cs typeface="+mn-cs"/>
                        </a:rPr>
                        <a:t>新观点或新见解</a:t>
                      </a:r>
                      <a:r>
                        <a:rPr lang="zh-CN" altLang="zh-CN" sz="1400" kern="1200" dirty="0">
                          <a:solidFill>
                            <a:schemeClr val="dk1"/>
                          </a:solidFill>
                          <a:latin typeface="+mn-lt"/>
                          <a:ea typeface="+mn-ea"/>
                          <a:cs typeface="+mn-cs"/>
                        </a:rPr>
                        <a:t>。</a:t>
                      </a:r>
                      <a:endParaRPr lang="zh-CN" altLang="en-US" sz="1400" dirty="0"/>
                    </a:p>
                  </a:txBody>
                  <a:tcPr/>
                </a:tc>
                <a:extLst>
                  <a:ext uri="{0D108BD9-81ED-4DB2-BD59-A6C34878D82A}">
                    <a16:rowId xmlns:a16="http://schemas.microsoft.com/office/drawing/2014/main" val="10002"/>
                  </a:ext>
                </a:extLst>
              </a:tr>
              <a:tr h="370840">
                <a:tc>
                  <a:txBody>
                    <a:bodyPr/>
                    <a:lstStyle/>
                    <a:p>
                      <a:r>
                        <a:rPr lang="zh-CN" altLang="en-US" sz="1400" dirty="0"/>
                        <a:t>案例</a:t>
                      </a:r>
                    </a:p>
                  </a:txBody>
                  <a:tcPr/>
                </a:tc>
                <a:tc>
                  <a:txBody>
                    <a:bodyPr/>
                    <a:lstStyle/>
                    <a:p>
                      <a:r>
                        <a:rPr lang="zh-CN" altLang="zh-CN" sz="1400" kern="1200" dirty="0">
                          <a:solidFill>
                            <a:schemeClr val="dk1"/>
                          </a:solidFill>
                          <a:latin typeface="+mn-lt"/>
                          <a:ea typeface="+mn-ea"/>
                          <a:cs typeface="+mn-cs"/>
                        </a:rPr>
                        <a:t>对一项工程或一项技术进行剖析，以</a:t>
                      </a:r>
                      <a:r>
                        <a:rPr lang="zh-CN" altLang="zh-CN" sz="1400" b="1" kern="1200" dirty="0">
                          <a:solidFill>
                            <a:schemeClr val="dk1"/>
                          </a:solidFill>
                          <a:latin typeface="+mn-lt"/>
                          <a:ea typeface="+mn-ea"/>
                          <a:cs typeface="+mn-cs"/>
                        </a:rPr>
                        <a:t>发现其中存在的工程管理问题</a:t>
                      </a:r>
                      <a:r>
                        <a:rPr lang="zh-CN" altLang="zh-CN" sz="1400" kern="1200" dirty="0">
                          <a:solidFill>
                            <a:schemeClr val="dk1"/>
                          </a:solidFill>
                          <a:latin typeface="+mn-lt"/>
                          <a:ea typeface="+mn-ea"/>
                          <a:cs typeface="+mn-cs"/>
                        </a:rPr>
                        <a:t>，并</a:t>
                      </a:r>
                      <a:r>
                        <a:rPr lang="zh-CN" altLang="zh-CN" sz="1400" b="1" kern="1200" dirty="0">
                          <a:solidFill>
                            <a:schemeClr val="dk1"/>
                          </a:solidFill>
                          <a:latin typeface="+mn-lt"/>
                          <a:ea typeface="+mn-ea"/>
                          <a:cs typeface="+mn-cs"/>
                        </a:rPr>
                        <a:t>运用工程管理相关知识，提出解决方案</a:t>
                      </a:r>
                      <a:endParaRPr lang="zh-CN" altLang="en-US" sz="1400" b="1" dirty="0"/>
                    </a:p>
                  </a:txBody>
                  <a:tcPr/>
                </a:tc>
                <a:tc>
                  <a:txBody>
                    <a:bodyPr/>
                    <a:lstStyle/>
                    <a:p>
                      <a:r>
                        <a:rPr lang="zh-CN" altLang="zh-CN" sz="1400" kern="1200" dirty="0">
                          <a:solidFill>
                            <a:schemeClr val="dk1"/>
                          </a:solidFill>
                          <a:latin typeface="+mn-lt"/>
                          <a:ea typeface="+mn-ea"/>
                          <a:cs typeface="+mn-cs"/>
                        </a:rPr>
                        <a:t>以工程领域的实例为研究对象，通过对</a:t>
                      </a:r>
                      <a:r>
                        <a:rPr lang="zh-CN" altLang="zh-CN" sz="1400" b="1" kern="1200" dirty="0">
                          <a:solidFill>
                            <a:srgbClr val="FF0000"/>
                          </a:solidFill>
                          <a:latin typeface="+mn-lt"/>
                          <a:ea typeface="+mn-ea"/>
                          <a:cs typeface="+mn-cs"/>
                        </a:rPr>
                        <a:t>国内外解决该类工程问题的具有典型性或典型的案例进行选择分析、对比研究和理性思考</a:t>
                      </a:r>
                      <a:r>
                        <a:rPr lang="zh-CN" altLang="zh-CN" sz="1400" kern="1200" dirty="0">
                          <a:solidFill>
                            <a:schemeClr val="dk1"/>
                          </a:solidFill>
                          <a:latin typeface="+mn-lt"/>
                          <a:ea typeface="+mn-ea"/>
                          <a:cs typeface="+mn-cs"/>
                        </a:rPr>
                        <a:t>，探讨解决该类问题的新思路或新方案。</a:t>
                      </a:r>
                      <a:endParaRPr lang="zh-CN" altLang="en-US" sz="1400" dirty="0"/>
                    </a:p>
                  </a:txBody>
                  <a:tcPr/>
                </a:tc>
                <a:tc>
                  <a:txBody>
                    <a:bodyPr/>
                    <a:lstStyle/>
                    <a:p>
                      <a:r>
                        <a:rPr lang="zh-CN" altLang="zh-CN" sz="1400" kern="1200" dirty="0">
                          <a:solidFill>
                            <a:schemeClr val="dk1"/>
                          </a:solidFill>
                          <a:latin typeface="+mn-lt"/>
                          <a:ea typeface="+mn-ea"/>
                          <a:cs typeface="+mn-cs"/>
                        </a:rPr>
                        <a:t>通过</a:t>
                      </a:r>
                      <a:r>
                        <a:rPr lang="zh-CN" altLang="zh-CN" sz="1400" b="1" kern="1200" dirty="0">
                          <a:solidFill>
                            <a:srgbClr val="FF0000"/>
                          </a:solidFill>
                          <a:latin typeface="+mn-lt"/>
                          <a:ea typeface="+mn-ea"/>
                          <a:cs typeface="+mn-cs"/>
                        </a:rPr>
                        <a:t>搜集和发掘典型案例</a:t>
                      </a:r>
                      <a:r>
                        <a:rPr lang="zh-CN" altLang="zh-CN" sz="1400" kern="1200" dirty="0">
                          <a:solidFill>
                            <a:schemeClr val="dk1"/>
                          </a:solidFill>
                          <a:latin typeface="+mn-lt"/>
                          <a:ea typeface="+mn-ea"/>
                          <a:cs typeface="+mn-cs"/>
                        </a:rPr>
                        <a:t>，</a:t>
                      </a:r>
                      <a:r>
                        <a:rPr lang="zh-CN" altLang="zh-CN" sz="1400" b="1" kern="1200" dirty="0">
                          <a:solidFill>
                            <a:schemeClr val="dk1"/>
                          </a:solidFill>
                          <a:latin typeface="+mn-lt"/>
                          <a:ea typeface="+mn-ea"/>
                          <a:cs typeface="+mn-cs"/>
                        </a:rPr>
                        <a:t>采用搜集、记录、整理和分析的方法</a:t>
                      </a:r>
                      <a:r>
                        <a:rPr lang="zh-CN" altLang="zh-CN" sz="1400" kern="1200" dirty="0">
                          <a:solidFill>
                            <a:schemeClr val="dk1"/>
                          </a:solidFill>
                          <a:latin typeface="+mn-lt"/>
                          <a:ea typeface="+mn-ea"/>
                          <a:cs typeface="+mn-cs"/>
                        </a:rPr>
                        <a:t>，在对研究对象进行全面真实描述的基础上，</a:t>
                      </a:r>
                      <a:r>
                        <a:rPr lang="zh-CN" altLang="zh-CN" sz="1400" b="1" kern="1200" dirty="0">
                          <a:solidFill>
                            <a:srgbClr val="FF0000"/>
                          </a:solidFill>
                          <a:latin typeface="+mn-lt"/>
                          <a:ea typeface="+mn-ea"/>
                          <a:cs typeface="+mn-cs"/>
                        </a:rPr>
                        <a:t>根据相关理论或借鉴他人经验，</a:t>
                      </a:r>
                      <a:r>
                        <a:rPr lang="zh-CN" altLang="zh-CN" sz="1400" b="1" kern="1200" dirty="0">
                          <a:solidFill>
                            <a:schemeClr val="dk1"/>
                          </a:solidFill>
                          <a:latin typeface="+mn-lt"/>
                          <a:ea typeface="+mn-ea"/>
                          <a:cs typeface="+mn-cs"/>
                        </a:rPr>
                        <a:t>归纳、解释、分析问题</a:t>
                      </a:r>
                      <a:r>
                        <a:rPr lang="zh-CN" altLang="zh-CN" sz="1400" kern="1200" dirty="0">
                          <a:solidFill>
                            <a:schemeClr val="dk1"/>
                          </a:solidFill>
                          <a:latin typeface="+mn-lt"/>
                          <a:ea typeface="+mn-ea"/>
                          <a:cs typeface="+mn-cs"/>
                        </a:rPr>
                        <a:t>。</a:t>
                      </a:r>
                      <a:endParaRPr lang="zh-CN" altLang="en-US" sz="1400" dirty="0"/>
                    </a:p>
                  </a:txBody>
                  <a:tcPr/>
                </a:tc>
                <a:tc>
                  <a:txBody>
                    <a:bodyPr/>
                    <a:lstStyle/>
                    <a:p>
                      <a:r>
                        <a:rPr lang="zh-CN" altLang="zh-CN" sz="1400" kern="1200" dirty="0">
                          <a:solidFill>
                            <a:schemeClr val="dk1"/>
                          </a:solidFill>
                          <a:latin typeface="+mn-lt"/>
                          <a:ea typeface="+mn-ea"/>
                          <a:cs typeface="+mn-cs"/>
                        </a:rPr>
                        <a:t>通过对案例的解读与分析，明确</a:t>
                      </a:r>
                      <a:r>
                        <a:rPr lang="zh-CN" altLang="zh-CN" sz="1400" b="1" kern="1200" dirty="0">
                          <a:solidFill>
                            <a:schemeClr val="dk1"/>
                          </a:solidFill>
                          <a:latin typeface="+mn-lt"/>
                          <a:ea typeface="+mn-ea"/>
                          <a:cs typeface="+mn-cs"/>
                        </a:rPr>
                        <a:t>案例成功的经验与应吸取的教训</a:t>
                      </a:r>
                      <a:r>
                        <a:rPr lang="zh-CN" altLang="zh-CN" sz="1400" kern="1200" dirty="0">
                          <a:solidFill>
                            <a:schemeClr val="dk1"/>
                          </a:solidFill>
                          <a:latin typeface="+mn-lt"/>
                          <a:ea typeface="+mn-ea"/>
                          <a:cs typeface="+mn-cs"/>
                        </a:rPr>
                        <a:t>，在</a:t>
                      </a:r>
                      <a:r>
                        <a:rPr lang="zh-CN" altLang="zh-CN" sz="1400" b="1" kern="1200" dirty="0">
                          <a:solidFill>
                            <a:schemeClr val="dk1"/>
                          </a:solidFill>
                          <a:latin typeface="+mn-lt"/>
                          <a:ea typeface="+mn-ea"/>
                          <a:cs typeface="+mn-cs"/>
                        </a:rPr>
                        <a:t>科学论证</a:t>
                      </a:r>
                      <a:r>
                        <a:rPr lang="zh-CN" altLang="zh-CN" sz="1400" kern="1200" dirty="0">
                          <a:solidFill>
                            <a:schemeClr val="dk1"/>
                          </a:solidFill>
                          <a:latin typeface="+mn-lt"/>
                          <a:ea typeface="+mn-ea"/>
                          <a:cs typeface="+mn-cs"/>
                        </a:rPr>
                        <a:t>的基础上，提出</a:t>
                      </a:r>
                      <a:r>
                        <a:rPr lang="zh-CN" altLang="zh-CN" sz="1400" b="1" kern="1200" dirty="0">
                          <a:solidFill>
                            <a:schemeClr val="dk1"/>
                          </a:solidFill>
                          <a:latin typeface="+mn-lt"/>
                          <a:ea typeface="+mn-ea"/>
                          <a:cs typeface="+mn-cs"/>
                        </a:rPr>
                        <a:t>解决这一问题的策略或方案</a:t>
                      </a:r>
                      <a:r>
                        <a:rPr lang="zh-CN" altLang="zh-CN" sz="1400" kern="1200" dirty="0">
                          <a:solidFill>
                            <a:schemeClr val="dk1"/>
                          </a:solidFill>
                          <a:latin typeface="+mn-lt"/>
                          <a:ea typeface="+mn-ea"/>
                          <a:cs typeface="+mn-cs"/>
                        </a:rPr>
                        <a:t>。</a:t>
                      </a:r>
                      <a:endParaRPr lang="zh-CN" altLang="en-US" sz="1400"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ext uri="{D42A27DB-BD31-4B8C-83A1-F6EECF244321}">
                <p14:modId xmlns:p14="http://schemas.microsoft.com/office/powerpoint/2010/main" val="4007137359"/>
              </p:ext>
            </p:extLst>
          </p:nvPr>
        </p:nvGraphicFramePr>
        <p:xfrm>
          <a:off x="560736" y="243232"/>
          <a:ext cx="8229600" cy="6405880"/>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gridCol w="2088232">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2047176">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zh-CN" altLang="en-US" sz="1400" dirty="0"/>
                        <a:t>形式</a:t>
                      </a:r>
                    </a:p>
                  </a:txBody>
                  <a:tcPr/>
                </a:tc>
                <a:tc>
                  <a:txBody>
                    <a:bodyPr/>
                    <a:lstStyle/>
                    <a:p>
                      <a:r>
                        <a:rPr lang="zh-CN" altLang="en-US" sz="1400" dirty="0"/>
                        <a:t>（</a:t>
                      </a:r>
                      <a:r>
                        <a:rPr lang="en-US" altLang="zh-CN" sz="1400" dirty="0"/>
                        <a:t>1</a:t>
                      </a:r>
                      <a:r>
                        <a:rPr lang="zh-CN" altLang="en-US" sz="1400" dirty="0"/>
                        <a:t>）绪论</a:t>
                      </a:r>
                    </a:p>
                  </a:txBody>
                  <a:tcPr/>
                </a:tc>
                <a:tc>
                  <a:txBody>
                    <a:bodyPr/>
                    <a:lstStyle/>
                    <a:p>
                      <a:endParaRPr lang="zh-CN" altLang="en-US" sz="1400" dirty="0"/>
                    </a:p>
                  </a:txBody>
                  <a:tcPr/>
                </a:tc>
                <a:tc>
                  <a:txBody>
                    <a:bodyPr/>
                    <a:lstStyle/>
                    <a:p>
                      <a:endParaRPr lang="zh-CN" altLang="en-US" sz="1400"/>
                    </a:p>
                  </a:txBody>
                  <a:tcPr/>
                </a:tc>
                <a:tc>
                  <a:txBody>
                    <a:bodyPr/>
                    <a:lstStyle/>
                    <a:p>
                      <a:r>
                        <a:rPr lang="zh-CN" altLang="en-US" sz="1400" dirty="0"/>
                        <a:t>（</a:t>
                      </a:r>
                      <a:r>
                        <a:rPr lang="en-US" altLang="zh-CN" sz="1400" dirty="0"/>
                        <a:t>4</a:t>
                      </a:r>
                      <a:r>
                        <a:rPr lang="zh-CN" altLang="en-US" sz="1400" dirty="0"/>
                        <a:t>）总结</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t>专题</a:t>
                      </a:r>
                    </a:p>
                    <a:p>
                      <a:endParaRPr lang="zh-CN" altLang="en-US" sz="1400" dirty="0"/>
                    </a:p>
                  </a:txBody>
                  <a:tcPr/>
                </a:tc>
                <a:tc>
                  <a:txBody>
                    <a:bodyPr/>
                    <a:lstStyle/>
                    <a:p>
                      <a:r>
                        <a:rPr lang="zh-CN" altLang="zh-CN" sz="1400" kern="1200" dirty="0">
                          <a:solidFill>
                            <a:schemeClr val="dk1"/>
                          </a:solidFill>
                          <a:latin typeface="+mn-lt"/>
                          <a:ea typeface="+mn-ea"/>
                          <a:cs typeface="+mn-cs"/>
                        </a:rPr>
                        <a:t>对于所</a:t>
                      </a:r>
                      <a:r>
                        <a:rPr lang="zh-CN" altLang="zh-CN" sz="1400" b="1" kern="1200" dirty="0">
                          <a:solidFill>
                            <a:schemeClr val="dk1"/>
                          </a:solidFill>
                          <a:latin typeface="+mn-lt"/>
                          <a:ea typeface="+mn-ea"/>
                          <a:cs typeface="+mn-cs"/>
                        </a:rPr>
                        <a:t>研究专题的国内外现状应有清晰的描述与分析</a:t>
                      </a:r>
                      <a:r>
                        <a:rPr lang="zh-CN" altLang="zh-CN" sz="1400" kern="1200" dirty="0">
                          <a:solidFill>
                            <a:schemeClr val="dk1"/>
                          </a:solidFill>
                          <a:latin typeface="+mn-lt"/>
                          <a:ea typeface="+mn-ea"/>
                          <a:cs typeface="+mn-cs"/>
                        </a:rPr>
                        <a:t>，重点阐述该专题研究的进展，以及本专题研究的背景、必要性和重要性，简述本研究的主要观点和内容。</a:t>
                      </a:r>
                      <a:endParaRPr lang="zh-CN" altLang="en-US" sz="1400" dirty="0"/>
                    </a:p>
                  </a:txBody>
                  <a:tcPr/>
                </a:tc>
                <a:tc>
                  <a:txBody>
                    <a:bodyPr/>
                    <a:lstStyle/>
                    <a:p>
                      <a:r>
                        <a:rPr lang="en-US" altLang="zh-CN" sz="1400" b="1" kern="1200" dirty="0">
                          <a:solidFill>
                            <a:schemeClr val="dk1"/>
                          </a:solidFill>
                          <a:latin typeface="+mn-lt"/>
                          <a:ea typeface="+mn-ea"/>
                          <a:cs typeface="+mn-cs"/>
                        </a:rPr>
                        <a:t>(2)</a:t>
                      </a:r>
                      <a:r>
                        <a:rPr lang="zh-CN" altLang="zh-CN" sz="1400" b="1" kern="1200" dirty="0">
                          <a:solidFill>
                            <a:schemeClr val="dk1"/>
                          </a:solidFill>
                          <a:latin typeface="+mn-lt"/>
                          <a:ea typeface="+mn-ea"/>
                          <a:cs typeface="+mn-cs"/>
                        </a:rPr>
                        <a:t>文献综述及理论分析</a:t>
                      </a:r>
                      <a:r>
                        <a:rPr lang="zh-CN" altLang="zh-CN" sz="1400" kern="1200" dirty="0">
                          <a:solidFill>
                            <a:schemeClr val="dk1"/>
                          </a:solidFill>
                          <a:latin typeface="+mn-lt"/>
                          <a:ea typeface="+mn-ea"/>
                          <a:cs typeface="+mn-cs"/>
                        </a:rPr>
                        <a:t>：确定所研究专题的理论基础，运用科学、合理的方法对该专题涉及的问题进行全面综合的分析。</a:t>
                      </a:r>
                      <a:endParaRPr lang="zh-CN" altLang="en-US" sz="1400" dirty="0"/>
                    </a:p>
                  </a:txBody>
                  <a:tcPr/>
                </a:tc>
                <a:tc>
                  <a:txBody>
                    <a:bodyPr/>
                    <a:lstStyle/>
                    <a:p>
                      <a:r>
                        <a:rPr lang="en-US" altLang="zh-CN" sz="1400" b="1" kern="1200" dirty="0">
                          <a:solidFill>
                            <a:schemeClr val="dk1"/>
                          </a:solidFill>
                          <a:latin typeface="+mn-lt"/>
                          <a:ea typeface="+mn-ea"/>
                          <a:cs typeface="+mn-cs"/>
                        </a:rPr>
                        <a:t>(3)</a:t>
                      </a:r>
                      <a:r>
                        <a:rPr lang="zh-CN" altLang="zh-CN" sz="1400" b="1" kern="1200" dirty="0">
                          <a:solidFill>
                            <a:schemeClr val="dk1"/>
                          </a:solidFill>
                          <a:latin typeface="+mn-lt"/>
                          <a:ea typeface="+mn-ea"/>
                          <a:cs typeface="+mn-cs"/>
                        </a:rPr>
                        <a:t>资料或数据分</a:t>
                      </a:r>
                      <a:r>
                        <a:rPr lang="zh-CN" altLang="zh-CN" sz="1400" kern="1200" dirty="0">
                          <a:solidFill>
                            <a:schemeClr val="dk1"/>
                          </a:solidFill>
                          <a:latin typeface="+mn-lt"/>
                          <a:ea typeface="+mn-ea"/>
                          <a:cs typeface="+mn-cs"/>
                        </a:rPr>
                        <a:t>析：对搜集到的研究资料或数据进行整理和分析，</a:t>
                      </a:r>
                      <a:r>
                        <a:rPr lang="zh-CN" altLang="zh-CN" sz="1400" b="1" kern="1200" dirty="0">
                          <a:solidFill>
                            <a:schemeClr val="dk1"/>
                          </a:solidFill>
                          <a:latin typeface="+mn-lt"/>
                          <a:ea typeface="+mn-ea"/>
                          <a:cs typeface="+mn-cs"/>
                        </a:rPr>
                        <a:t>提炼有关模式或建立关系</a:t>
                      </a:r>
                      <a:r>
                        <a:rPr lang="zh-CN" altLang="zh-CN" sz="1400" kern="1200" dirty="0">
                          <a:solidFill>
                            <a:schemeClr val="dk1"/>
                          </a:solidFill>
                          <a:latin typeface="+mn-lt"/>
                          <a:ea typeface="+mn-ea"/>
                          <a:cs typeface="+mn-cs"/>
                        </a:rPr>
                        <a:t>；资料及数据分析要贴切、合理。</a:t>
                      </a:r>
                      <a:endParaRPr lang="zh-CN" altLang="en-US" sz="1400" dirty="0"/>
                    </a:p>
                  </a:txBody>
                  <a:tcPr/>
                </a:tc>
                <a:tc>
                  <a:txBody>
                    <a:bodyPr/>
                    <a:lstStyle/>
                    <a:p>
                      <a:r>
                        <a:rPr lang="zh-CN" altLang="zh-CN" sz="1400" kern="1200" dirty="0">
                          <a:solidFill>
                            <a:schemeClr val="dk1"/>
                          </a:solidFill>
                          <a:latin typeface="+mn-lt"/>
                          <a:ea typeface="+mn-ea"/>
                          <a:cs typeface="+mn-cs"/>
                        </a:rPr>
                        <a:t>针对研究专题</a:t>
                      </a:r>
                      <a:r>
                        <a:rPr lang="zh-CN" altLang="zh-CN" sz="1400" b="1" kern="1200" dirty="0">
                          <a:solidFill>
                            <a:schemeClr val="dk1"/>
                          </a:solidFill>
                          <a:latin typeface="+mn-lt"/>
                          <a:ea typeface="+mn-ea"/>
                          <a:cs typeface="+mn-cs"/>
                        </a:rPr>
                        <a:t>提出自己的理论或观点</a:t>
                      </a:r>
                      <a:r>
                        <a:rPr lang="zh-CN" altLang="zh-CN" sz="1400" kern="1200" dirty="0">
                          <a:solidFill>
                            <a:schemeClr val="dk1"/>
                          </a:solidFill>
                          <a:latin typeface="+mn-lt"/>
                          <a:ea typeface="+mn-ea"/>
                          <a:cs typeface="+mn-cs"/>
                        </a:rPr>
                        <a:t>，通过充分有力的论据来论证相关结论；见解要有一定的创新性。</a:t>
                      </a:r>
                      <a:endParaRPr lang="zh-CN" altLang="en-US" sz="1400" dirty="0"/>
                    </a:p>
                  </a:txBody>
                  <a:tcPr/>
                </a:tc>
                <a:extLst>
                  <a:ext uri="{0D108BD9-81ED-4DB2-BD59-A6C34878D82A}">
                    <a16:rowId xmlns:a16="http://schemas.microsoft.com/office/drawing/2014/main" val="10001"/>
                  </a:ext>
                </a:extLst>
              </a:tr>
              <a:tr h="1571488">
                <a:tc>
                  <a:txBody>
                    <a:bodyPr/>
                    <a:lstStyle/>
                    <a:p>
                      <a:r>
                        <a:rPr lang="zh-CN" altLang="en-US" sz="1400" dirty="0"/>
                        <a:t>应用</a:t>
                      </a:r>
                    </a:p>
                  </a:txBody>
                  <a:tcPr/>
                </a:tc>
                <a:tc>
                  <a:txBody>
                    <a:bodyPr/>
                    <a:lstStyle/>
                    <a:p>
                      <a:r>
                        <a:rPr lang="zh-CN" altLang="zh-CN" sz="1400" kern="1200" dirty="0">
                          <a:solidFill>
                            <a:schemeClr val="dk1"/>
                          </a:solidFill>
                          <a:latin typeface="+mn-lt"/>
                          <a:ea typeface="+mn-ea"/>
                          <a:cs typeface="+mn-cs"/>
                        </a:rPr>
                        <a:t>阐述开展应用命题的背景及其必要性，</a:t>
                      </a:r>
                      <a:r>
                        <a:rPr lang="zh-CN" altLang="zh-CN" sz="1400" b="1" kern="1200" dirty="0">
                          <a:solidFill>
                            <a:schemeClr val="dk1"/>
                          </a:solidFill>
                          <a:latin typeface="+mn-lt"/>
                          <a:ea typeface="+mn-ea"/>
                          <a:cs typeface="+mn-cs"/>
                        </a:rPr>
                        <a:t>对国内外同类工程管理问题的技术方法进行总结和概括</a:t>
                      </a:r>
                      <a:r>
                        <a:rPr lang="zh-CN" altLang="zh-CN" sz="1400" kern="1200" dirty="0">
                          <a:solidFill>
                            <a:schemeClr val="dk1"/>
                          </a:solidFill>
                          <a:latin typeface="+mn-lt"/>
                          <a:ea typeface="+mn-ea"/>
                          <a:cs typeface="+mn-cs"/>
                        </a:rPr>
                        <a:t>，介绍本文的主要内容。</a:t>
                      </a:r>
                      <a:endParaRPr lang="zh-CN" altLang="en-US" sz="1400" dirty="0"/>
                    </a:p>
                  </a:txBody>
                  <a:tcPr/>
                </a:tc>
                <a:tc>
                  <a:txBody>
                    <a:bodyPr/>
                    <a:lstStyle/>
                    <a:p>
                      <a:r>
                        <a:rPr lang="en-US" altLang="zh-CN" sz="1400" b="1" kern="1200" dirty="0">
                          <a:solidFill>
                            <a:schemeClr val="dk1"/>
                          </a:solidFill>
                          <a:latin typeface="+mn-lt"/>
                          <a:ea typeface="+mn-ea"/>
                          <a:cs typeface="+mn-cs"/>
                        </a:rPr>
                        <a:t>(2)</a:t>
                      </a:r>
                      <a:r>
                        <a:rPr lang="zh-CN" altLang="zh-CN" sz="1400" b="1" kern="1200" dirty="0">
                          <a:solidFill>
                            <a:schemeClr val="dk1"/>
                          </a:solidFill>
                          <a:latin typeface="+mn-lt"/>
                          <a:ea typeface="+mn-ea"/>
                          <a:cs typeface="+mn-cs"/>
                        </a:rPr>
                        <a:t>研究和分析</a:t>
                      </a:r>
                      <a:r>
                        <a:rPr lang="zh-CN" altLang="zh-CN" sz="1400" kern="1200" dirty="0">
                          <a:solidFill>
                            <a:schemeClr val="dk1"/>
                          </a:solidFill>
                          <a:latin typeface="+mn-lt"/>
                          <a:ea typeface="+mn-ea"/>
                          <a:cs typeface="+mn-cs"/>
                        </a:rPr>
                        <a:t>：综合运用管理基础理论与专业知识，科学方法和技术手段，对所解决的工程实际问题进行理论分析、仿真或试验研究。</a:t>
                      </a:r>
                      <a:endParaRPr lang="zh-CN" altLang="en-US" sz="1400" dirty="0"/>
                    </a:p>
                  </a:txBody>
                  <a:tcPr/>
                </a:tc>
                <a:tc>
                  <a:txBody>
                    <a:bodyPr/>
                    <a:lstStyle/>
                    <a:p>
                      <a:r>
                        <a:rPr lang="en-US" altLang="zh-CN" sz="1400" b="1" kern="1200" dirty="0">
                          <a:solidFill>
                            <a:schemeClr val="dk1"/>
                          </a:solidFill>
                          <a:latin typeface="+mn-lt"/>
                          <a:ea typeface="+mn-ea"/>
                          <a:cs typeface="+mn-cs"/>
                        </a:rPr>
                        <a:t>(3)</a:t>
                      </a:r>
                      <a:r>
                        <a:rPr lang="zh-CN" altLang="zh-CN" sz="1400" b="1" kern="1200" dirty="0">
                          <a:solidFill>
                            <a:schemeClr val="dk1"/>
                          </a:solidFill>
                          <a:latin typeface="+mn-lt"/>
                          <a:ea typeface="+mn-ea"/>
                          <a:cs typeface="+mn-cs"/>
                        </a:rPr>
                        <a:t>应用或验证</a:t>
                      </a:r>
                      <a:r>
                        <a:rPr lang="zh-CN" altLang="zh-CN" sz="1400" kern="1200" dirty="0">
                          <a:solidFill>
                            <a:schemeClr val="dk1"/>
                          </a:solidFill>
                          <a:latin typeface="+mn-lt"/>
                          <a:ea typeface="+mn-ea"/>
                          <a:cs typeface="+mn-cs"/>
                        </a:rPr>
                        <a:t>：将研究结果应用于实际或进行验证，并对成果的先进性、实用性、可靠性、局限性等进行分析。</a:t>
                      </a:r>
                      <a:endParaRPr lang="zh-CN" altLang="en-US" sz="1400" dirty="0"/>
                    </a:p>
                  </a:txBody>
                  <a:tcPr/>
                </a:tc>
                <a:tc>
                  <a:txBody>
                    <a:bodyPr/>
                    <a:lstStyle/>
                    <a:p>
                      <a:r>
                        <a:rPr lang="zh-CN" altLang="zh-CN" sz="1400" kern="1200" dirty="0">
                          <a:solidFill>
                            <a:schemeClr val="dk1"/>
                          </a:solidFill>
                          <a:latin typeface="+mn-lt"/>
                          <a:ea typeface="+mn-ea"/>
                          <a:cs typeface="+mn-cs"/>
                        </a:rPr>
                        <a:t>概括出应用研究的主要工作和结论，指出作者在研究中的思路和见解；</a:t>
                      </a:r>
                      <a:r>
                        <a:rPr lang="zh-CN" altLang="zh-CN" sz="1400" b="1" kern="1200" dirty="0">
                          <a:solidFill>
                            <a:schemeClr val="dk1"/>
                          </a:solidFill>
                          <a:latin typeface="+mn-lt"/>
                          <a:ea typeface="+mn-ea"/>
                          <a:cs typeface="+mn-cs"/>
                        </a:rPr>
                        <a:t>描述成果的应用价值</a:t>
                      </a:r>
                      <a:r>
                        <a:rPr lang="zh-CN" altLang="zh-CN" sz="1400" kern="1200" dirty="0">
                          <a:solidFill>
                            <a:schemeClr val="dk1"/>
                          </a:solidFill>
                          <a:latin typeface="+mn-lt"/>
                          <a:ea typeface="+mn-ea"/>
                          <a:cs typeface="+mn-cs"/>
                        </a:rPr>
                        <a:t>，并对未来改进研究进行展望或提出建议。</a:t>
                      </a:r>
                      <a:endParaRPr lang="zh-CN" altLang="en-US" sz="1400" dirty="0"/>
                    </a:p>
                  </a:txBody>
                  <a:tcPr/>
                </a:tc>
                <a:extLst>
                  <a:ext uri="{0D108BD9-81ED-4DB2-BD59-A6C34878D82A}">
                    <a16:rowId xmlns:a16="http://schemas.microsoft.com/office/drawing/2014/main" val="10002"/>
                  </a:ext>
                </a:extLst>
              </a:tr>
              <a:tr h="370840">
                <a:tc>
                  <a:txBody>
                    <a:bodyPr/>
                    <a:lstStyle/>
                    <a:p>
                      <a:r>
                        <a:rPr lang="zh-CN" altLang="en-US" sz="1400" dirty="0"/>
                        <a:t>案例</a:t>
                      </a:r>
                    </a:p>
                  </a:txBody>
                  <a:tcPr/>
                </a:tc>
                <a:tc>
                  <a:txBody>
                    <a:bodyPr/>
                    <a:lstStyle/>
                    <a:p>
                      <a:r>
                        <a:rPr lang="zh-CN" altLang="zh-CN" sz="1400" kern="1200" dirty="0">
                          <a:solidFill>
                            <a:schemeClr val="dk1"/>
                          </a:solidFill>
                          <a:latin typeface="+mn-lt"/>
                          <a:ea typeface="+mn-ea"/>
                          <a:cs typeface="+mn-cs"/>
                        </a:rPr>
                        <a:t>案例叙述的背景并阐述必要性，</a:t>
                      </a:r>
                      <a:r>
                        <a:rPr lang="zh-CN" altLang="zh-CN" sz="1400" b="1" kern="1200" dirty="0">
                          <a:solidFill>
                            <a:schemeClr val="dk1"/>
                          </a:solidFill>
                          <a:latin typeface="+mn-lt"/>
                          <a:ea typeface="+mn-ea"/>
                          <a:cs typeface="+mn-cs"/>
                        </a:rPr>
                        <a:t>本研究主题的国内外研究现状</a:t>
                      </a:r>
                      <a:r>
                        <a:rPr lang="zh-CN" altLang="zh-CN" sz="1400" kern="1200" dirty="0">
                          <a:solidFill>
                            <a:schemeClr val="dk1"/>
                          </a:solidFill>
                          <a:latin typeface="+mn-lt"/>
                          <a:ea typeface="+mn-ea"/>
                          <a:cs typeface="+mn-cs"/>
                        </a:rPr>
                        <a:t>，阐述本案例研究的目标和主要内容。</a:t>
                      </a:r>
                      <a:endParaRPr lang="zh-CN" altLang="en-US" sz="1400" dirty="0"/>
                    </a:p>
                  </a:txBody>
                  <a:tcPr/>
                </a:tc>
                <a:tc>
                  <a:txBody>
                    <a:bodyPr/>
                    <a:lstStyle/>
                    <a:p>
                      <a:r>
                        <a:rPr lang="en-US" altLang="zh-CN" sz="1400" b="1" kern="1200" dirty="0">
                          <a:solidFill>
                            <a:schemeClr val="dk1"/>
                          </a:solidFill>
                          <a:latin typeface="+mn-lt"/>
                          <a:ea typeface="+mn-ea"/>
                          <a:cs typeface="+mn-cs"/>
                        </a:rPr>
                        <a:t>(2)</a:t>
                      </a:r>
                      <a:r>
                        <a:rPr lang="zh-CN" altLang="zh-CN" sz="1400" b="1" kern="1200" dirty="0">
                          <a:solidFill>
                            <a:schemeClr val="dk1"/>
                          </a:solidFill>
                          <a:latin typeface="+mn-lt"/>
                          <a:ea typeface="+mn-ea"/>
                          <a:cs typeface="+mn-cs"/>
                        </a:rPr>
                        <a:t>研究方法的选择和运用</a:t>
                      </a:r>
                      <a:r>
                        <a:rPr lang="zh-CN" altLang="zh-CN" sz="1400" kern="1200" dirty="0">
                          <a:solidFill>
                            <a:schemeClr val="dk1"/>
                          </a:solidFill>
                          <a:latin typeface="+mn-lt"/>
                          <a:ea typeface="+mn-ea"/>
                          <a:cs typeface="+mn-cs"/>
                        </a:rPr>
                        <a:t>：注意案例的选定标准，即案例确定、资料搜集和分析方法；阐述论文所应用的理论和方法。</a:t>
                      </a:r>
                      <a:endParaRPr lang="zh-CN" altLang="en-US" sz="1400" dirty="0"/>
                    </a:p>
                  </a:txBody>
                  <a:tcPr/>
                </a:tc>
                <a:tc>
                  <a:txBody>
                    <a:bodyPr/>
                    <a:lstStyle/>
                    <a:p>
                      <a:r>
                        <a:rPr lang="en-US" altLang="zh-CN" sz="1400" b="1" kern="1200" dirty="0">
                          <a:solidFill>
                            <a:schemeClr val="dk1"/>
                          </a:solidFill>
                          <a:latin typeface="+mn-lt"/>
                          <a:ea typeface="+mn-ea"/>
                          <a:cs typeface="+mn-cs"/>
                        </a:rPr>
                        <a:t>(3)</a:t>
                      </a:r>
                      <a:r>
                        <a:rPr lang="zh-CN" altLang="zh-CN" sz="1400" b="1" kern="1200" dirty="0">
                          <a:solidFill>
                            <a:schemeClr val="dk1"/>
                          </a:solidFill>
                          <a:latin typeface="+mn-lt"/>
                          <a:ea typeface="+mn-ea"/>
                          <a:cs typeface="+mn-cs"/>
                        </a:rPr>
                        <a:t>案例描述和分析</a:t>
                      </a:r>
                      <a:r>
                        <a:rPr lang="zh-CN" altLang="zh-CN" sz="1400" kern="1200" dirty="0">
                          <a:solidFill>
                            <a:schemeClr val="dk1"/>
                          </a:solidFill>
                          <a:latin typeface="+mn-lt"/>
                          <a:ea typeface="+mn-ea"/>
                          <a:cs typeface="+mn-cs"/>
                        </a:rPr>
                        <a:t>：详尽叙述案例的背景、面临的问题、需要做出的决策，以及实际状况，要求呈现出完整的事例；</a:t>
                      </a:r>
                      <a:r>
                        <a:rPr lang="zh-CN" altLang="zh-CN" sz="1400" b="1" kern="1200" dirty="0">
                          <a:solidFill>
                            <a:schemeClr val="tx1"/>
                          </a:solidFill>
                          <a:latin typeface="+mn-lt"/>
                          <a:ea typeface="+mn-ea"/>
                          <a:cs typeface="+mn-cs"/>
                        </a:rPr>
                        <a:t>应用管理学科的相关理论、方法和技术，多角度分析</a:t>
                      </a:r>
                      <a:r>
                        <a:rPr lang="zh-CN" altLang="zh-CN" sz="1400" b="1" kern="1200" dirty="0">
                          <a:solidFill>
                            <a:schemeClr val="dk1"/>
                          </a:solidFill>
                          <a:latin typeface="+mn-lt"/>
                          <a:ea typeface="+mn-ea"/>
                          <a:cs typeface="+mn-cs"/>
                        </a:rPr>
                        <a:t>案例反映的问题、过程与结果，评估其优劣成败、利弊得失</a:t>
                      </a:r>
                      <a:r>
                        <a:rPr lang="zh-CN" altLang="zh-CN" sz="1400" kern="1200" dirty="0">
                          <a:solidFill>
                            <a:schemeClr val="dk1"/>
                          </a:solidFill>
                          <a:latin typeface="+mn-lt"/>
                          <a:ea typeface="+mn-ea"/>
                          <a:cs typeface="+mn-cs"/>
                        </a:rPr>
                        <a:t>，并在此基础上总结相应的经验和教训。</a:t>
                      </a:r>
                      <a:endParaRPr lang="zh-CN" altLang="en-US" sz="1400" dirty="0"/>
                    </a:p>
                  </a:txBody>
                  <a:tcPr/>
                </a:tc>
                <a:tc>
                  <a:txBody>
                    <a:bodyPr/>
                    <a:lstStyle/>
                    <a:p>
                      <a:r>
                        <a:rPr lang="zh-CN" altLang="zh-CN" sz="1400" kern="1200" dirty="0">
                          <a:solidFill>
                            <a:schemeClr val="dk1"/>
                          </a:solidFill>
                          <a:latin typeface="+mn-lt"/>
                          <a:ea typeface="+mn-ea"/>
                          <a:cs typeface="+mn-cs"/>
                        </a:rPr>
                        <a:t>论文研究应用或印证的主要理论，</a:t>
                      </a:r>
                      <a:r>
                        <a:rPr lang="zh-CN" altLang="zh-CN" sz="1400" b="1" kern="1200" dirty="0">
                          <a:solidFill>
                            <a:schemeClr val="dk1"/>
                          </a:solidFill>
                          <a:latin typeface="+mn-lt"/>
                          <a:ea typeface="+mn-ea"/>
                          <a:cs typeface="+mn-cs"/>
                        </a:rPr>
                        <a:t>提出可以得出的启示</a:t>
                      </a:r>
                      <a:r>
                        <a:rPr lang="zh-CN" altLang="zh-CN" sz="1400" kern="1200" dirty="0">
                          <a:solidFill>
                            <a:schemeClr val="dk1"/>
                          </a:solidFill>
                          <a:latin typeface="+mn-lt"/>
                          <a:ea typeface="+mn-ea"/>
                          <a:cs typeface="+mn-cs"/>
                        </a:rPr>
                        <a:t>；</a:t>
                      </a:r>
                      <a:r>
                        <a:rPr lang="zh-CN" altLang="zh-CN" sz="1400" b="1" kern="1200" dirty="0">
                          <a:solidFill>
                            <a:schemeClr val="dk1"/>
                          </a:solidFill>
                          <a:latin typeface="+mn-lt"/>
                          <a:ea typeface="+mn-ea"/>
                          <a:cs typeface="+mn-cs"/>
                        </a:rPr>
                        <a:t>启发学习者进行讨论、评判和借鉴。</a:t>
                      </a:r>
                      <a:endParaRPr lang="zh-CN" altLang="en-US" sz="1400"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共同要求</a:t>
            </a:r>
          </a:p>
        </p:txBody>
      </p:sp>
      <p:sp>
        <p:nvSpPr>
          <p:cNvPr id="3" name="内容占位符 2"/>
          <p:cNvSpPr>
            <a:spLocks noGrp="1"/>
          </p:cNvSpPr>
          <p:nvPr>
            <p:ph idx="1"/>
          </p:nvPr>
        </p:nvSpPr>
        <p:spPr>
          <a:xfrm>
            <a:off x="457200" y="1451917"/>
            <a:ext cx="8229600" cy="5073427"/>
          </a:xfrm>
        </p:spPr>
        <p:txBody>
          <a:bodyPr>
            <a:normAutofit/>
          </a:bodyPr>
          <a:lstStyle/>
          <a:p>
            <a:pPr>
              <a:lnSpc>
                <a:spcPct val="110000"/>
              </a:lnSpc>
            </a:pPr>
            <a:r>
              <a:rPr lang="zh-CN" altLang="en-US" sz="2800" b="1" dirty="0"/>
              <a:t>形成</a:t>
            </a:r>
            <a:r>
              <a:rPr lang="zh-CN" altLang="en-US" sz="2800" b="1" dirty="0">
                <a:solidFill>
                  <a:srgbClr val="FF0000"/>
                </a:solidFill>
              </a:rPr>
              <a:t>以</a:t>
            </a:r>
            <a:r>
              <a:rPr lang="zh-CN" altLang="en-US" sz="2800" b="1" u="sng" dirty="0">
                <a:solidFill>
                  <a:srgbClr val="FF0000"/>
                </a:solidFill>
              </a:rPr>
              <a:t>问题</a:t>
            </a:r>
            <a:r>
              <a:rPr lang="zh-CN" altLang="en-US" sz="2800" b="1" dirty="0">
                <a:solidFill>
                  <a:srgbClr val="FF0000"/>
                </a:solidFill>
              </a:rPr>
              <a:t>为导向</a:t>
            </a:r>
            <a:r>
              <a:rPr lang="zh-CN" altLang="en-US" sz="2800" b="1" dirty="0"/>
              <a:t>的研究逻辑：</a:t>
            </a:r>
            <a:r>
              <a:rPr lang="zh-CN" altLang="en-US" sz="2800" b="1" dirty="0">
                <a:solidFill>
                  <a:srgbClr val="0000FF"/>
                </a:solidFill>
              </a:rPr>
              <a:t>提出问题</a:t>
            </a:r>
            <a:r>
              <a:rPr lang="en-US" altLang="zh-CN" sz="2800" b="1" dirty="0">
                <a:solidFill>
                  <a:srgbClr val="0000FF"/>
                </a:solidFill>
              </a:rPr>
              <a:t>--</a:t>
            </a:r>
            <a:r>
              <a:rPr lang="zh-CN" altLang="en-US" sz="2800" b="1" dirty="0">
                <a:solidFill>
                  <a:srgbClr val="0000FF"/>
                </a:solidFill>
              </a:rPr>
              <a:t>分析问题</a:t>
            </a:r>
            <a:r>
              <a:rPr lang="en-US" altLang="zh-CN" sz="2800" b="1" dirty="0">
                <a:solidFill>
                  <a:srgbClr val="0000FF"/>
                </a:solidFill>
              </a:rPr>
              <a:t>--</a:t>
            </a:r>
            <a:r>
              <a:rPr lang="zh-CN" altLang="en-US" sz="2800" b="1" dirty="0">
                <a:solidFill>
                  <a:srgbClr val="0000FF"/>
                </a:solidFill>
              </a:rPr>
              <a:t>解决问题</a:t>
            </a:r>
            <a:endParaRPr lang="en-US" altLang="zh-CN" sz="2800" b="1" dirty="0">
              <a:solidFill>
                <a:srgbClr val="0000FF"/>
              </a:solidFill>
            </a:endParaRPr>
          </a:p>
          <a:p>
            <a:pPr>
              <a:lnSpc>
                <a:spcPct val="110000"/>
              </a:lnSpc>
            </a:pPr>
            <a:r>
              <a:rPr lang="zh-CN" altLang="en-US" sz="2800" b="1" dirty="0"/>
              <a:t>都</a:t>
            </a:r>
            <a:r>
              <a:rPr lang="zh-CN" altLang="zh-CN" sz="2800" b="1" dirty="0"/>
              <a:t>强调</a:t>
            </a:r>
            <a:r>
              <a:rPr lang="zh-CN" altLang="zh-CN" sz="2800" b="1" dirty="0">
                <a:solidFill>
                  <a:srgbClr val="FF0000"/>
                </a:solidFill>
              </a:rPr>
              <a:t>应用一定理论</a:t>
            </a:r>
            <a:r>
              <a:rPr lang="en-US" altLang="zh-CN" sz="2800" b="1" dirty="0">
                <a:solidFill>
                  <a:srgbClr val="FF0000"/>
                </a:solidFill>
              </a:rPr>
              <a:t>/</a:t>
            </a:r>
            <a:r>
              <a:rPr lang="zh-CN" altLang="zh-CN" sz="2800" b="1" dirty="0">
                <a:solidFill>
                  <a:srgbClr val="FF0000"/>
                </a:solidFill>
              </a:rPr>
              <a:t>方法</a:t>
            </a:r>
            <a:r>
              <a:rPr lang="zh-CN" altLang="zh-CN" sz="2800" b="1" dirty="0"/>
              <a:t>来</a:t>
            </a:r>
            <a:r>
              <a:rPr lang="zh-CN" altLang="en-US" sz="2800" b="1" dirty="0"/>
              <a:t>分析</a:t>
            </a:r>
            <a:r>
              <a:rPr lang="zh-CN" altLang="zh-CN" sz="2800" b="1" dirty="0"/>
              <a:t>解决问题</a:t>
            </a:r>
            <a:endParaRPr lang="en-US" altLang="zh-CN" sz="2800" b="1" dirty="0"/>
          </a:p>
          <a:p>
            <a:pPr>
              <a:lnSpc>
                <a:spcPct val="110000"/>
              </a:lnSpc>
            </a:pPr>
            <a:r>
              <a:rPr lang="zh-CN" altLang="en-US" sz="2800" b="1" dirty="0"/>
              <a:t>所选择的理论方法</a:t>
            </a:r>
            <a:r>
              <a:rPr lang="zh-CN" altLang="zh-CN" sz="2800" b="1" dirty="0"/>
              <a:t>可以是</a:t>
            </a:r>
            <a:r>
              <a:rPr lang="zh-CN" altLang="zh-CN" sz="2800" b="1" dirty="0">
                <a:solidFill>
                  <a:srgbClr val="FF0000"/>
                </a:solidFill>
              </a:rPr>
              <a:t>现成的</a:t>
            </a:r>
            <a:r>
              <a:rPr lang="zh-CN" altLang="zh-CN" sz="2800" b="1" dirty="0"/>
              <a:t>理论</a:t>
            </a:r>
            <a:r>
              <a:rPr lang="en-US" altLang="zh-CN" sz="2800" b="1" dirty="0"/>
              <a:t>/</a:t>
            </a:r>
            <a:r>
              <a:rPr lang="zh-CN" altLang="zh-CN" sz="2800" b="1" dirty="0"/>
              <a:t>方法，</a:t>
            </a:r>
            <a:r>
              <a:rPr lang="zh-CN" altLang="en-US" sz="2800" b="1" dirty="0"/>
              <a:t>或</a:t>
            </a:r>
            <a:r>
              <a:rPr lang="zh-CN" altLang="en-US" sz="2800" b="1" dirty="0">
                <a:solidFill>
                  <a:srgbClr val="FF0000"/>
                </a:solidFill>
              </a:rPr>
              <a:t>综合运用</a:t>
            </a:r>
            <a:r>
              <a:rPr lang="zh-CN" altLang="en-US" sz="2800" b="1" dirty="0"/>
              <a:t>已有理论，或甚至形成</a:t>
            </a:r>
            <a:r>
              <a:rPr lang="zh-CN" altLang="en-US" sz="2800" b="1" dirty="0">
                <a:solidFill>
                  <a:srgbClr val="FF0000"/>
                </a:solidFill>
              </a:rPr>
              <a:t>原创</a:t>
            </a:r>
            <a:r>
              <a:rPr lang="zh-CN" altLang="en-US" sz="2800" b="1" dirty="0"/>
              <a:t>理论</a:t>
            </a:r>
            <a:endParaRPr lang="en-US" altLang="zh-CN" sz="2800" b="1" dirty="0"/>
          </a:p>
          <a:p>
            <a:pPr>
              <a:lnSpc>
                <a:spcPct val="110000"/>
              </a:lnSpc>
            </a:pPr>
            <a:r>
              <a:rPr lang="zh-CN" altLang="zh-CN" sz="2800" b="1" dirty="0"/>
              <a:t>理论</a:t>
            </a:r>
            <a:r>
              <a:rPr lang="en-US" altLang="zh-CN" sz="2800" b="1" dirty="0"/>
              <a:t>/</a:t>
            </a:r>
            <a:r>
              <a:rPr lang="zh-CN" altLang="zh-CN" sz="2800" b="1" dirty="0"/>
              <a:t>方法的选择一定要</a:t>
            </a:r>
            <a:r>
              <a:rPr lang="zh-CN" altLang="zh-CN" sz="2800" b="1" dirty="0">
                <a:solidFill>
                  <a:srgbClr val="FF0000"/>
                </a:solidFill>
              </a:rPr>
              <a:t>适于</a:t>
            </a:r>
            <a:r>
              <a:rPr lang="zh-CN" altLang="en-US" sz="2800" b="1" dirty="0">
                <a:solidFill>
                  <a:srgbClr val="FF0000"/>
                </a:solidFill>
              </a:rPr>
              <a:t>分析</a:t>
            </a:r>
            <a:r>
              <a:rPr lang="zh-CN" altLang="zh-CN" sz="2800" b="1" dirty="0">
                <a:solidFill>
                  <a:srgbClr val="FF0000"/>
                </a:solidFill>
              </a:rPr>
              <a:t>解决问题</a:t>
            </a:r>
            <a:r>
              <a:rPr lang="zh-CN" altLang="en-US" sz="2800" b="1" dirty="0">
                <a:solidFill>
                  <a:srgbClr val="0000FF"/>
                </a:solidFill>
              </a:rPr>
              <a:t>（不是为了用方法而去用方法）</a:t>
            </a:r>
            <a:r>
              <a:rPr lang="zh-CN" altLang="zh-CN" sz="2800" b="1" dirty="0"/>
              <a:t>并能</a:t>
            </a:r>
            <a:r>
              <a:rPr lang="zh-CN" altLang="zh-CN" sz="2800" b="1" dirty="0">
                <a:solidFill>
                  <a:srgbClr val="FF0000"/>
                </a:solidFill>
              </a:rPr>
              <a:t>得到正确应用</a:t>
            </a:r>
            <a:r>
              <a:rPr lang="zh-CN" altLang="zh-CN" sz="2800" b="1" dirty="0"/>
              <a:t>，也即</a:t>
            </a:r>
            <a:r>
              <a:rPr lang="zh-CN" altLang="en-US" sz="2800" b="1" dirty="0"/>
              <a:t>：</a:t>
            </a:r>
            <a:r>
              <a:rPr lang="zh-CN" altLang="zh-CN" sz="2800" b="1" dirty="0">
                <a:latin typeface="楷体" pitchFamily="49" charset="-122"/>
                <a:ea typeface="楷体" pitchFamily="49" charset="-122"/>
              </a:rPr>
              <a:t>理论</a:t>
            </a:r>
            <a:r>
              <a:rPr lang="en-US" altLang="zh-CN" sz="2800" b="1" dirty="0">
                <a:latin typeface="楷体" pitchFamily="49" charset="-122"/>
                <a:ea typeface="楷体" pitchFamily="49" charset="-122"/>
              </a:rPr>
              <a:t>/</a:t>
            </a:r>
            <a:r>
              <a:rPr lang="zh-CN" altLang="zh-CN" sz="2800" b="1" dirty="0">
                <a:latin typeface="楷体" pitchFamily="49" charset="-122"/>
                <a:ea typeface="楷体" pitchFamily="49" charset="-122"/>
              </a:rPr>
              <a:t>方法的选择与应用都是以问题解决为导向的</a:t>
            </a:r>
            <a:r>
              <a:rPr lang="zh-CN" altLang="en-US" sz="2800" b="1" dirty="0">
                <a:latin typeface="楷体" pitchFamily="49" charset="-122"/>
                <a:ea typeface="楷体" pitchFamily="49" charset="-122"/>
              </a:rPr>
              <a:t>，</a:t>
            </a:r>
            <a:r>
              <a:rPr lang="zh-CN" altLang="zh-CN" sz="2800" b="1" dirty="0">
                <a:latin typeface="楷体" pitchFamily="49" charset="-122"/>
                <a:ea typeface="楷体" pitchFamily="49" charset="-122"/>
              </a:rPr>
              <a:t>并且</a:t>
            </a:r>
            <a:r>
              <a:rPr lang="zh-CN" altLang="zh-CN" sz="2800" b="1" dirty="0">
                <a:solidFill>
                  <a:srgbClr val="FF0000"/>
                </a:solidFill>
                <a:latin typeface="楷体" pitchFamily="49" charset="-122"/>
                <a:ea typeface="楷体" pitchFamily="49" charset="-122"/>
              </a:rPr>
              <a:t>问题</a:t>
            </a:r>
            <a:r>
              <a:rPr lang="zh-CN" altLang="en-US" sz="2800" b="1" dirty="0">
                <a:solidFill>
                  <a:srgbClr val="FF0000"/>
                </a:solidFill>
                <a:latin typeface="楷体" pitchFamily="49" charset="-122"/>
                <a:ea typeface="楷体" pitchFamily="49" charset="-122"/>
              </a:rPr>
              <a:t>解决</a:t>
            </a:r>
            <a:r>
              <a:rPr lang="zh-CN" altLang="zh-CN" sz="2800" b="1" dirty="0">
                <a:solidFill>
                  <a:srgbClr val="FF0000"/>
                </a:solidFill>
                <a:latin typeface="楷体" pitchFamily="49" charset="-122"/>
                <a:ea typeface="楷体" pitchFamily="49" charset="-122"/>
              </a:rPr>
              <a:t>的</a:t>
            </a:r>
            <a:r>
              <a:rPr lang="zh-CN" altLang="en-US" sz="2800" b="1" dirty="0">
                <a:solidFill>
                  <a:srgbClr val="FF0000"/>
                </a:solidFill>
                <a:latin typeface="楷体" pitchFamily="49" charset="-122"/>
                <a:ea typeface="楷体" pitchFamily="49" charset="-122"/>
              </a:rPr>
              <a:t>实践</a:t>
            </a:r>
            <a:r>
              <a:rPr lang="zh-CN" altLang="zh-CN" sz="2800" b="1" dirty="0">
                <a:solidFill>
                  <a:srgbClr val="FF0000"/>
                </a:solidFill>
                <a:latin typeface="楷体" pitchFamily="49" charset="-122"/>
                <a:ea typeface="楷体" pitchFamily="49" charset="-122"/>
              </a:rPr>
              <a:t>效果是显著的</a:t>
            </a:r>
            <a:endParaRPr lang="zh-CN" altLang="en-US" sz="2800" dirty="0">
              <a:solidFill>
                <a:srgbClr val="FF0000"/>
              </a:solidFill>
              <a:latin typeface="楷体" pitchFamily="49" charset="-122"/>
              <a:ea typeface="楷体" pitchFamily="49" charset="-122"/>
            </a:endParaRPr>
          </a:p>
        </p:txBody>
      </p:sp>
      <p:sp>
        <p:nvSpPr>
          <p:cNvPr id="9" name="TextBox 8"/>
          <p:cNvSpPr txBox="1"/>
          <p:nvPr/>
        </p:nvSpPr>
        <p:spPr>
          <a:xfrm>
            <a:off x="179512" y="243225"/>
            <a:ext cx="3240360" cy="1169551"/>
          </a:xfrm>
          <a:prstGeom prst="rect">
            <a:avLst/>
          </a:prstGeom>
          <a:solidFill>
            <a:schemeClr val="accent3">
              <a:lumMod val="20000"/>
              <a:lumOff val="80000"/>
            </a:schemeClr>
          </a:solidFill>
        </p:spPr>
        <p:txBody>
          <a:bodyPr wrap="square" rtlCol="0">
            <a:spAutoFit/>
          </a:bodyPr>
          <a:lstStyle/>
          <a:p>
            <a:r>
              <a:rPr lang="zh-CN" altLang="en-US" sz="1400" b="1" dirty="0"/>
              <a:t>“</a:t>
            </a:r>
            <a:r>
              <a:rPr lang="zh-CN" altLang="zh-CN" sz="1400" b="1" dirty="0"/>
              <a:t>可以是各类需解决的工程管理实际问题（如效率、流程、质量、成本、风险、安全、评价、创新、信息、网络、人力资源、经济分析等方面的工程管理问题）</a:t>
            </a:r>
            <a:r>
              <a:rPr lang="zh-CN" altLang="en-US" sz="1400" b="1" dirty="0"/>
              <a:t> ”</a:t>
            </a:r>
            <a:r>
              <a:rPr lang="en-US" altLang="zh-CN" sz="1400" b="1" dirty="0"/>
              <a:t>——</a:t>
            </a:r>
            <a:r>
              <a:rPr lang="zh-CN" altLang="zh-CN" sz="1400" b="1" dirty="0"/>
              <a:t>最好结合自己岗位工作</a:t>
            </a:r>
            <a:endParaRPr lang="zh-CN" altLang="en-US" sz="1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zh-CN" altLang="en-US" sz="4000" b="1" dirty="0">
                <a:solidFill>
                  <a:srgbClr val="0000FF"/>
                </a:solidFill>
              </a:rPr>
              <a:t>全国教指委文件要求工程管理专题研究类论文：</a:t>
            </a:r>
            <a:endParaRPr lang="zh-CN" altLang="en-US" sz="4000" dirty="0"/>
          </a:p>
        </p:txBody>
      </p:sp>
      <p:sp>
        <p:nvSpPr>
          <p:cNvPr id="3" name="内容占位符 2"/>
          <p:cNvSpPr>
            <a:spLocks noGrp="1"/>
          </p:cNvSpPr>
          <p:nvPr>
            <p:ph idx="1"/>
          </p:nvPr>
        </p:nvSpPr>
        <p:spPr>
          <a:xfrm>
            <a:off x="457200" y="1600200"/>
            <a:ext cx="8229600" cy="4781128"/>
          </a:xfrm>
        </p:spPr>
        <p:txBody>
          <a:bodyPr>
            <a:normAutofit/>
          </a:bodyPr>
          <a:lstStyle/>
          <a:p>
            <a:pPr>
              <a:lnSpc>
                <a:spcPct val="120000"/>
              </a:lnSpc>
            </a:pPr>
            <a:r>
              <a:rPr lang="zh-CN" altLang="zh-CN" sz="2400" b="1" dirty="0"/>
              <a:t>具有合适的理论、方法或工具（如各类定性或定量分析方法、系统工程方法、评价技术等），并能高质量地解决所研究的问题。</a:t>
            </a:r>
            <a:endParaRPr lang="en-US" altLang="zh-CN" sz="2400" b="1" dirty="0"/>
          </a:p>
          <a:p>
            <a:pPr>
              <a:lnSpc>
                <a:spcPct val="120000"/>
              </a:lnSpc>
              <a:buNone/>
            </a:pPr>
            <a:r>
              <a:rPr lang="en-US" altLang="zh-CN" sz="2400" dirty="0"/>
              <a:t>——</a:t>
            </a:r>
            <a:r>
              <a:rPr lang="zh-CN" altLang="zh-CN" sz="2400" dirty="0"/>
              <a:t>应选择</a:t>
            </a:r>
            <a:r>
              <a:rPr lang="zh-CN" altLang="zh-CN" sz="2400" b="1" dirty="0">
                <a:solidFill>
                  <a:srgbClr val="0000FF"/>
                </a:solidFill>
              </a:rPr>
              <a:t>适用的</a:t>
            </a:r>
            <a:r>
              <a:rPr lang="zh-CN" altLang="zh-CN" sz="2400" dirty="0"/>
              <a:t>理论、方法、工具，以便高质量地解决所研究的问题。</a:t>
            </a:r>
          </a:p>
          <a:p>
            <a:pPr>
              <a:lnSpc>
                <a:spcPct val="120000"/>
              </a:lnSpc>
              <a:buNone/>
            </a:pPr>
            <a:r>
              <a:rPr lang="en-US" altLang="zh-CN" sz="2400" dirty="0"/>
              <a:t>——</a:t>
            </a:r>
            <a:r>
              <a:rPr lang="zh-CN" altLang="zh-CN" sz="2400" dirty="0"/>
              <a:t>应选择</a:t>
            </a:r>
            <a:r>
              <a:rPr lang="zh-CN" altLang="zh-CN" sz="2400" b="1" dirty="0">
                <a:solidFill>
                  <a:srgbClr val="0000FF"/>
                </a:solidFill>
              </a:rPr>
              <a:t>难度适中</a:t>
            </a:r>
            <a:r>
              <a:rPr lang="zh-CN" altLang="zh-CN" sz="2400" dirty="0"/>
              <a:t>的理论、方法、工具，要能为行业多数同行所理解和认可。</a:t>
            </a:r>
          </a:p>
          <a:p>
            <a:pPr>
              <a:lnSpc>
                <a:spcPct val="120000"/>
              </a:lnSpc>
              <a:buNone/>
            </a:pPr>
            <a:r>
              <a:rPr lang="en-US" altLang="zh-CN" sz="2400" dirty="0"/>
              <a:t>——</a:t>
            </a:r>
            <a:r>
              <a:rPr lang="zh-CN" altLang="zh-CN" sz="2400" dirty="0"/>
              <a:t>应能</a:t>
            </a:r>
            <a:r>
              <a:rPr lang="zh-CN" altLang="zh-CN" sz="2400" b="1" dirty="0">
                <a:solidFill>
                  <a:srgbClr val="0000FF"/>
                </a:solidFill>
              </a:rPr>
              <a:t>正确地使用</a:t>
            </a:r>
            <a:r>
              <a:rPr lang="zh-CN" altLang="zh-CN" sz="2400" dirty="0"/>
              <a:t>所选的理论、方法、工具，论证有力。</a:t>
            </a:r>
          </a:p>
          <a:p>
            <a:pPr>
              <a:lnSpc>
                <a:spcPct val="120000"/>
              </a:lnSpc>
              <a:buNone/>
            </a:pPr>
            <a:r>
              <a:rPr lang="en-US" altLang="zh-CN" sz="2400" dirty="0"/>
              <a:t>——</a:t>
            </a:r>
            <a:r>
              <a:rPr lang="zh-CN" altLang="zh-CN" sz="2400" dirty="0"/>
              <a:t>论文工作应十分重视收集、整理必要的</a:t>
            </a:r>
            <a:r>
              <a:rPr lang="zh-CN" altLang="zh-CN" sz="2400" b="1" dirty="0">
                <a:solidFill>
                  <a:srgbClr val="0000FF"/>
                </a:solidFill>
              </a:rPr>
              <a:t>真实数据作为分析研究的支撑</a:t>
            </a:r>
            <a:r>
              <a:rPr lang="zh-CN" altLang="zh-CN" sz="2400" dirty="0"/>
              <a:t>。</a:t>
            </a:r>
          </a:p>
        </p:txBody>
      </p:sp>
      <p:sp>
        <p:nvSpPr>
          <p:cNvPr id="4" name="文本框 3">
            <a:extLst>
              <a:ext uri="{FF2B5EF4-FFF2-40B4-BE49-F238E27FC236}">
                <a16:creationId xmlns:a16="http://schemas.microsoft.com/office/drawing/2014/main" id="{521364C9-DB04-F8E2-0375-7F441508A418}"/>
              </a:ext>
            </a:extLst>
          </p:cNvPr>
          <p:cNvSpPr txBox="1"/>
          <p:nvPr/>
        </p:nvSpPr>
        <p:spPr>
          <a:xfrm>
            <a:off x="4139952" y="5861019"/>
            <a:ext cx="4104456" cy="923330"/>
          </a:xfrm>
          <a:prstGeom prst="rect">
            <a:avLst/>
          </a:prstGeom>
          <a:solidFill>
            <a:schemeClr val="accent4">
              <a:lumMod val="20000"/>
              <a:lumOff val="80000"/>
            </a:schemeClr>
          </a:solidFill>
        </p:spPr>
        <p:txBody>
          <a:bodyPr wrap="square" rtlCol="0">
            <a:spAutoFit/>
          </a:bodyPr>
          <a:lstStyle/>
          <a:p>
            <a:r>
              <a:rPr lang="zh-CN" altLang="en-US" sz="1800" b="1" kern="1200" baseline="0" dirty="0">
                <a:solidFill>
                  <a:srgbClr val="C00000"/>
                </a:solidFill>
                <a:latin typeface="楷体" panose="02010609060101010101" pitchFamily="49" charset="-122"/>
                <a:ea typeface="楷体" panose="02010609060101010101" pitchFamily="49" charset="-122"/>
              </a:rPr>
              <a:t>对于工程管理设计类和工程管理案例研究类论文，同样建议选择合适的理论、方法和工具及收集整理必要的数据等</a:t>
            </a:r>
            <a:endParaRPr lang="zh-CN" altLang="en-US" b="1" dirty="0">
              <a:solidFill>
                <a:srgbClr val="C00000"/>
              </a:solidFill>
              <a:latin typeface="楷体" panose="02010609060101010101" pitchFamily="49" charset="-122"/>
              <a:ea typeface="楷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4624"/>
            <a:ext cx="8229600" cy="6840759"/>
          </a:xfrm>
        </p:spPr>
        <p:txBody>
          <a:bodyPr/>
          <a:lstStyle/>
          <a:p>
            <a:r>
              <a:rPr lang="zh-CN" altLang="zh-CN" sz="2800" dirty="0"/>
              <a:t>专题研究类论文参考范文：</a:t>
            </a:r>
            <a:endParaRPr lang="en-US" altLang="zh-CN" sz="2800" dirty="0"/>
          </a:p>
          <a:p>
            <a:endParaRPr lang="en-US" altLang="zh-CN" dirty="0"/>
          </a:p>
          <a:p>
            <a:endParaRPr lang="en-US" altLang="zh-CN" dirty="0"/>
          </a:p>
          <a:p>
            <a:r>
              <a:rPr lang="zh-CN" altLang="zh-CN" sz="2800" dirty="0"/>
              <a:t>工程应用研究类论文参考范文：</a:t>
            </a:r>
            <a:endParaRPr lang="en-US" altLang="zh-CN" sz="2800" dirty="0"/>
          </a:p>
          <a:p>
            <a:endParaRPr lang="en-US" altLang="zh-CN" sz="2800" dirty="0"/>
          </a:p>
          <a:p>
            <a:endParaRPr lang="en-US" altLang="zh-CN" sz="2800" dirty="0"/>
          </a:p>
          <a:p>
            <a:endParaRPr lang="en-US" altLang="zh-CN" sz="2800" dirty="0"/>
          </a:p>
          <a:p>
            <a:endParaRPr lang="en-US" altLang="zh-CN" sz="2800" dirty="0"/>
          </a:p>
          <a:p>
            <a:endParaRPr lang="en-US" altLang="zh-CN" sz="2800" dirty="0"/>
          </a:p>
          <a:p>
            <a:endParaRPr lang="en-US" altLang="zh-CN" sz="2800" dirty="0"/>
          </a:p>
          <a:p>
            <a:r>
              <a:rPr lang="zh-CN" altLang="zh-CN" sz="2800" dirty="0"/>
              <a:t>工程案例分析类论文参考范文：</a:t>
            </a:r>
            <a:endParaRPr lang="zh-CN" altLang="en-US" sz="2800" dirty="0"/>
          </a:p>
        </p:txBody>
      </p:sp>
      <p:pic>
        <p:nvPicPr>
          <p:cNvPr id="4" name="图片 3"/>
          <p:cNvPicPr/>
          <p:nvPr/>
        </p:nvPicPr>
        <p:blipFill>
          <a:blip r:embed="rId3" cstate="print"/>
          <a:srcRect/>
          <a:stretch>
            <a:fillRect/>
          </a:stretch>
        </p:blipFill>
        <p:spPr bwMode="auto">
          <a:xfrm>
            <a:off x="1331640" y="548680"/>
            <a:ext cx="6192688" cy="1152128"/>
          </a:xfrm>
          <a:prstGeom prst="rect">
            <a:avLst/>
          </a:prstGeom>
          <a:noFill/>
          <a:ln w="9525">
            <a:noFill/>
            <a:miter lim="800000"/>
            <a:headEnd/>
            <a:tailEnd/>
          </a:ln>
        </p:spPr>
      </p:pic>
      <p:pic>
        <p:nvPicPr>
          <p:cNvPr id="5" name="图片 4"/>
          <p:cNvPicPr/>
          <p:nvPr/>
        </p:nvPicPr>
        <p:blipFill>
          <a:blip r:embed="rId4" cstate="print"/>
          <a:srcRect/>
          <a:stretch>
            <a:fillRect/>
          </a:stretch>
        </p:blipFill>
        <p:spPr bwMode="auto">
          <a:xfrm>
            <a:off x="1331640" y="2276872"/>
            <a:ext cx="6120680" cy="3024336"/>
          </a:xfrm>
          <a:prstGeom prst="rect">
            <a:avLst/>
          </a:prstGeom>
          <a:noFill/>
          <a:ln w="9525">
            <a:noFill/>
            <a:miter lim="800000"/>
            <a:headEnd/>
            <a:tailEnd/>
          </a:ln>
        </p:spPr>
      </p:pic>
      <p:pic>
        <p:nvPicPr>
          <p:cNvPr id="6" name="图片 5"/>
          <p:cNvPicPr/>
          <p:nvPr/>
        </p:nvPicPr>
        <p:blipFill>
          <a:blip r:embed="rId5" cstate="print"/>
          <a:srcRect/>
          <a:stretch>
            <a:fillRect/>
          </a:stretch>
        </p:blipFill>
        <p:spPr bwMode="auto">
          <a:xfrm>
            <a:off x="1331640" y="5805264"/>
            <a:ext cx="5472608" cy="980728"/>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4000" b="1" dirty="0">
                <a:solidFill>
                  <a:srgbClr val="0000FF"/>
                </a:solidFill>
              </a:rPr>
              <a:t>全国教指委文件指出：</a:t>
            </a:r>
            <a:endParaRPr lang="zh-CN" altLang="en-US" sz="4000" dirty="0"/>
          </a:p>
        </p:txBody>
      </p:sp>
      <p:sp>
        <p:nvSpPr>
          <p:cNvPr id="3" name="内容占位符 2"/>
          <p:cNvSpPr>
            <a:spLocks noGrp="1"/>
          </p:cNvSpPr>
          <p:nvPr>
            <p:ph idx="1"/>
          </p:nvPr>
        </p:nvSpPr>
        <p:spPr/>
        <p:txBody>
          <a:bodyPr>
            <a:normAutofit lnSpcReduction="10000"/>
          </a:bodyPr>
          <a:lstStyle/>
          <a:p>
            <a:r>
              <a:rPr lang="zh-CN" altLang="en-US" dirty="0">
                <a:solidFill>
                  <a:srgbClr val="FF0000"/>
                </a:solidFill>
              </a:rPr>
              <a:t>工程管理设计类论文</a:t>
            </a:r>
            <a:r>
              <a:rPr lang="zh-CN" altLang="en-US" dirty="0"/>
              <a:t>涉及</a:t>
            </a:r>
            <a:r>
              <a:rPr lang="zh-CN" altLang="en-US" b="1" dirty="0"/>
              <a:t>有关产品、系统、设施、流程、方案等的规划、设计</a:t>
            </a:r>
            <a:r>
              <a:rPr lang="zh-CN" altLang="en-US" dirty="0"/>
              <a:t>及相应的研究活动。这类论文的目标及产出导向特征明显，选题范围广泛，比如：</a:t>
            </a:r>
            <a:r>
              <a:rPr lang="zh-CN" altLang="en-US" b="1" dirty="0"/>
              <a:t>产品设计与开发，系统分析、仿真与优化，流程分析，方案设计与质量控制等</a:t>
            </a:r>
            <a:r>
              <a:rPr lang="zh-CN" altLang="en-US" dirty="0"/>
              <a:t>。此类论文应根据设计对象的特点，重点阐述设计背景、需求分析、设计依据、设计过程、验证与结论等，要有一定的数据支撑，方案比较和分析计算</a:t>
            </a:r>
            <a:r>
              <a:rPr lang="en-US" altLang="zh-CN" dirty="0"/>
              <a:t>/</a:t>
            </a:r>
            <a:r>
              <a:rPr lang="zh-CN" altLang="en-US" dirty="0"/>
              <a:t>校验等。</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4000" b="1" dirty="0">
                <a:solidFill>
                  <a:srgbClr val="0000FF"/>
                </a:solidFill>
              </a:rPr>
              <a:t>全国教指委文件指出：</a:t>
            </a:r>
            <a:endParaRPr lang="zh-CN" altLang="en-US" sz="4000" dirty="0"/>
          </a:p>
        </p:txBody>
      </p:sp>
      <p:sp>
        <p:nvSpPr>
          <p:cNvPr id="3" name="内容占位符 2"/>
          <p:cNvSpPr>
            <a:spLocks noGrp="1"/>
          </p:cNvSpPr>
          <p:nvPr>
            <p:ph idx="1"/>
          </p:nvPr>
        </p:nvSpPr>
        <p:spPr>
          <a:xfrm>
            <a:off x="457200" y="1484784"/>
            <a:ext cx="8229600" cy="5112568"/>
          </a:xfrm>
        </p:spPr>
        <p:txBody>
          <a:bodyPr>
            <a:noAutofit/>
          </a:bodyPr>
          <a:lstStyle/>
          <a:p>
            <a:pPr>
              <a:lnSpc>
                <a:spcPct val="110000"/>
              </a:lnSpc>
            </a:pPr>
            <a:r>
              <a:rPr lang="zh-CN" altLang="en-US" sz="2400" dirty="0">
                <a:solidFill>
                  <a:srgbClr val="FF0000"/>
                </a:solidFill>
              </a:rPr>
              <a:t>工程管理案例研究类论文</a:t>
            </a:r>
            <a:r>
              <a:rPr lang="zh-CN" altLang="en-US" sz="2400" b="1" dirty="0"/>
              <a:t>以典型性、代表性工程管理实践为研究对象</a:t>
            </a:r>
            <a:r>
              <a:rPr lang="zh-CN" altLang="en-US" sz="2400" dirty="0"/>
              <a:t>，通过调研与数据收集及分析，发现问题，找出规律，提出建议或解决方案，对相似问题的解决具有明显的启示意义。</a:t>
            </a:r>
          </a:p>
          <a:p>
            <a:pPr>
              <a:lnSpc>
                <a:spcPct val="110000"/>
              </a:lnSpc>
            </a:pPr>
            <a:r>
              <a:rPr lang="zh-CN" altLang="en-US" sz="2400" dirty="0"/>
              <a:t>案例研究类论文的素材应优先选择与作者工作相关的，或能够充分了解的相关管理实践，并且保证案例资料的翔实性和真实性。</a:t>
            </a:r>
            <a:endParaRPr lang="en-US" altLang="zh-CN" sz="2400" dirty="0"/>
          </a:p>
          <a:p>
            <a:pPr>
              <a:lnSpc>
                <a:spcPct val="110000"/>
              </a:lnSpc>
            </a:pPr>
            <a:r>
              <a:rPr lang="zh-CN" altLang="en-US" sz="2400" dirty="0"/>
              <a:t>论文在结构上应包括背景、案例描述、数据调研、案例分析、研究结论与启示等内容。论文需用管理学科的相关理论、方法和技术，</a:t>
            </a:r>
            <a:r>
              <a:rPr lang="zh-CN" altLang="en-US" sz="2400" b="1" dirty="0"/>
              <a:t>多角度分析案例反映的问题、过程与结果，评估其优劣成败、利弊得失，并在此基础上总结相应的经验和教训</a:t>
            </a:r>
            <a:r>
              <a:rPr lang="zh-CN" altLang="en-US" sz="24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评价指标</a:t>
            </a:r>
            <a:endParaRPr lang="zh-CN" altLang="en-US" b="1" dirty="0"/>
          </a:p>
        </p:txBody>
      </p:sp>
      <p:sp>
        <p:nvSpPr>
          <p:cNvPr id="3" name="内容占位符 2"/>
          <p:cNvSpPr>
            <a:spLocks noGrp="1"/>
          </p:cNvSpPr>
          <p:nvPr>
            <p:ph idx="1"/>
          </p:nvPr>
        </p:nvSpPr>
        <p:spPr>
          <a:xfrm>
            <a:off x="539552" y="1268760"/>
            <a:ext cx="8229600" cy="1108720"/>
          </a:xfrm>
        </p:spPr>
        <p:txBody>
          <a:bodyPr>
            <a:normAutofit/>
          </a:bodyPr>
          <a:lstStyle/>
          <a:p>
            <a:r>
              <a:rPr lang="zh-CN" altLang="en-US" sz="2800" dirty="0"/>
              <a:t>上海市：三类</a:t>
            </a:r>
            <a:r>
              <a:rPr lang="zh-CN" altLang="zh-CN" sz="2800" dirty="0"/>
              <a:t>论文</a:t>
            </a:r>
            <a:r>
              <a:rPr lang="zh-CN" altLang="en-US" sz="2800" dirty="0"/>
              <a:t>评价指标和权重基本相同</a:t>
            </a:r>
          </a:p>
        </p:txBody>
      </p:sp>
      <p:pic>
        <p:nvPicPr>
          <p:cNvPr id="4" name="图片 3"/>
          <p:cNvPicPr/>
          <p:nvPr/>
        </p:nvPicPr>
        <p:blipFill>
          <a:blip r:embed="rId3" cstate="print"/>
          <a:srcRect/>
          <a:stretch>
            <a:fillRect/>
          </a:stretch>
        </p:blipFill>
        <p:spPr bwMode="auto">
          <a:xfrm>
            <a:off x="1259632" y="1772816"/>
            <a:ext cx="6768752" cy="4234085"/>
          </a:xfrm>
          <a:prstGeom prst="rect">
            <a:avLst/>
          </a:prstGeom>
          <a:noFill/>
          <a:ln w="9525">
            <a:noFill/>
            <a:miter lim="800000"/>
            <a:headEnd/>
            <a:tailEnd/>
          </a:ln>
        </p:spPr>
      </p:pic>
      <p:pic>
        <p:nvPicPr>
          <p:cNvPr id="5" name="图片 4"/>
          <p:cNvPicPr/>
          <p:nvPr/>
        </p:nvPicPr>
        <p:blipFill>
          <a:blip r:embed="rId4" cstate="print"/>
          <a:srcRect/>
          <a:stretch>
            <a:fillRect/>
          </a:stretch>
        </p:blipFill>
        <p:spPr bwMode="auto">
          <a:xfrm>
            <a:off x="1979712" y="6057901"/>
            <a:ext cx="5274310" cy="39543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027" name="Picture 3"/>
          <p:cNvPicPr>
            <a:picLocks noChangeAspect="1" noChangeArrowheads="1"/>
          </p:cNvPicPr>
          <p:nvPr/>
        </p:nvPicPr>
        <p:blipFill>
          <a:blip r:embed="rId3" cstate="print"/>
          <a:srcRect/>
          <a:stretch>
            <a:fillRect/>
          </a:stretch>
        </p:blipFill>
        <p:spPr bwMode="auto">
          <a:xfrm>
            <a:off x="2123728" y="549489"/>
            <a:ext cx="5472608" cy="5687823"/>
          </a:xfrm>
          <a:prstGeom prst="rect">
            <a:avLst/>
          </a:prstGeom>
          <a:noFill/>
          <a:ln w="9525">
            <a:noFill/>
            <a:miter lim="800000"/>
            <a:headEnd/>
            <a:tailEnd/>
          </a:ln>
        </p:spPr>
      </p:pic>
      <p:sp>
        <p:nvSpPr>
          <p:cNvPr id="7" name="右箭头 6"/>
          <p:cNvSpPr/>
          <p:nvPr/>
        </p:nvSpPr>
        <p:spPr>
          <a:xfrm>
            <a:off x="1763688" y="3212976"/>
            <a:ext cx="360040"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1043608" y="476672"/>
            <a:ext cx="432048" cy="5632311"/>
          </a:xfrm>
          <a:prstGeom prst="rect">
            <a:avLst/>
          </a:prstGeom>
          <a:solidFill>
            <a:schemeClr val="tx2">
              <a:lumMod val="20000"/>
              <a:lumOff val="80000"/>
            </a:schemeClr>
          </a:solidFill>
        </p:spPr>
        <p:txBody>
          <a:bodyPr wrap="square" rtlCol="0">
            <a:spAutoFit/>
          </a:bodyPr>
          <a:lstStyle/>
          <a:p>
            <a:r>
              <a:rPr lang="zh-CN" altLang="en-US" b="1" dirty="0"/>
              <a:t>全国教指委的</a:t>
            </a:r>
            <a:r>
              <a:rPr lang="en-US" altLang="zh-CN" b="1" dirty="0"/>
              <a:t>MEM</a:t>
            </a:r>
            <a:r>
              <a:rPr lang="zh-CN" altLang="en-US" b="1" dirty="0"/>
              <a:t>专业学位论文水平评价表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026" name="Picture 2"/>
          <p:cNvPicPr>
            <a:picLocks noChangeAspect="1" noChangeArrowheads="1"/>
          </p:cNvPicPr>
          <p:nvPr/>
        </p:nvPicPr>
        <p:blipFill>
          <a:blip r:embed="rId3" cstate="print"/>
          <a:srcRect/>
          <a:stretch>
            <a:fillRect/>
          </a:stretch>
        </p:blipFill>
        <p:spPr bwMode="auto">
          <a:xfrm>
            <a:off x="2483768" y="404664"/>
            <a:ext cx="4732015" cy="6175331"/>
          </a:xfrm>
          <a:prstGeom prst="rect">
            <a:avLst/>
          </a:prstGeom>
          <a:noFill/>
          <a:ln w="9525">
            <a:noFill/>
            <a:miter lim="800000"/>
            <a:headEnd/>
            <a:tailEnd/>
          </a:ln>
        </p:spPr>
      </p:pic>
      <p:sp>
        <p:nvSpPr>
          <p:cNvPr id="5" name="右箭头 4"/>
          <p:cNvSpPr/>
          <p:nvPr/>
        </p:nvSpPr>
        <p:spPr>
          <a:xfrm>
            <a:off x="1979712" y="3212976"/>
            <a:ext cx="360040"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971600" y="1668864"/>
            <a:ext cx="720080" cy="3416320"/>
          </a:xfrm>
          <a:prstGeom prst="rect">
            <a:avLst/>
          </a:prstGeom>
          <a:solidFill>
            <a:schemeClr val="tx2">
              <a:lumMod val="20000"/>
              <a:lumOff val="80000"/>
            </a:schemeClr>
          </a:solidFill>
        </p:spPr>
        <p:txBody>
          <a:bodyPr wrap="square" rtlCol="0">
            <a:spAutoFit/>
          </a:bodyPr>
          <a:lstStyle/>
          <a:p>
            <a:r>
              <a:rPr lang="zh-CN" altLang="en-US" b="1" dirty="0"/>
              <a:t>全国教指委的</a:t>
            </a:r>
            <a:r>
              <a:rPr lang="en-US" altLang="zh-CN" b="1" dirty="0"/>
              <a:t>MEM</a:t>
            </a:r>
            <a:r>
              <a:rPr lang="zh-CN" altLang="en-US" b="1" dirty="0"/>
              <a:t>专业学位论文体现研究生能力评价表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评价指标</a:t>
            </a:r>
            <a:endParaRPr lang="zh-CN" altLang="en-US" b="1" dirty="0"/>
          </a:p>
        </p:txBody>
      </p:sp>
      <p:sp>
        <p:nvSpPr>
          <p:cNvPr id="3" name="内容占位符 2"/>
          <p:cNvSpPr>
            <a:spLocks noGrp="1"/>
          </p:cNvSpPr>
          <p:nvPr>
            <p:ph idx="1"/>
          </p:nvPr>
        </p:nvSpPr>
        <p:spPr>
          <a:xfrm>
            <a:off x="539552" y="1268760"/>
            <a:ext cx="8229600" cy="936104"/>
          </a:xfrm>
        </p:spPr>
        <p:txBody>
          <a:bodyPr>
            <a:normAutofit fontScale="92500" lnSpcReduction="10000"/>
          </a:bodyPr>
          <a:lstStyle/>
          <a:p>
            <a:pPr>
              <a:lnSpc>
                <a:spcPct val="120000"/>
              </a:lnSpc>
            </a:pPr>
            <a:r>
              <a:rPr lang="zh-CN" altLang="zh-CN" sz="2800" dirty="0"/>
              <a:t>《</a:t>
            </a:r>
            <a:r>
              <a:rPr lang="zh-CN" altLang="zh-CN" sz="2800" b="1" dirty="0"/>
              <a:t>同济大学工程硕士专业学位论文评阅意见书（工程管理类）》</a:t>
            </a:r>
            <a:r>
              <a:rPr lang="zh-CN" altLang="en-US" sz="2800" b="1" dirty="0"/>
              <a:t>如下</a:t>
            </a:r>
            <a:r>
              <a:rPr lang="zh-CN" altLang="zh-CN" sz="2800" dirty="0"/>
              <a:t>，单项或总分</a:t>
            </a:r>
            <a:r>
              <a:rPr lang="zh-CN" altLang="en-US" sz="2800" dirty="0"/>
              <a:t>未达到</a:t>
            </a:r>
            <a:r>
              <a:rPr lang="en-US" altLang="zh-CN" sz="2800" dirty="0"/>
              <a:t>60</a:t>
            </a:r>
            <a:r>
              <a:rPr lang="zh-CN" altLang="zh-CN" sz="2800" dirty="0"/>
              <a:t>分</a:t>
            </a:r>
            <a:r>
              <a:rPr lang="zh-CN" altLang="en-US" sz="2800" dirty="0"/>
              <a:t>则</a:t>
            </a:r>
            <a:r>
              <a:rPr lang="zh-CN" altLang="zh-CN" sz="2800" dirty="0"/>
              <a:t>为不合格</a:t>
            </a:r>
            <a:endParaRPr lang="zh-CN" altLang="en-US" sz="2800" dirty="0"/>
          </a:p>
        </p:txBody>
      </p:sp>
      <p:graphicFrame>
        <p:nvGraphicFramePr>
          <p:cNvPr id="7" name="表格 6"/>
          <p:cNvGraphicFramePr>
            <a:graphicFrameLocks noGrp="1"/>
          </p:cNvGraphicFramePr>
          <p:nvPr/>
        </p:nvGraphicFramePr>
        <p:xfrm>
          <a:off x="1331640" y="2204864"/>
          <a:ext cx="7128792" cy="4094795"/>
        </p:xfrm>
        <a:graphic>
          <a:graphicData uri="http://schemas.openxmlformats.org/drawingml/2006/table">
            <a:tbl>
              <a:tblPr/>
              <a:tblGrid>
                <a:gridCol w="2473255">
                  <a:extLst>
                    <a:ext uri="{9D8B030D-6E8A-4147-A177-3AD203B41FA5}">
                      <a16:colId xmlns:a16="http://schemas.microsoft.com/office/drawing/2014/main" val="20000"/>
                    </a:ext>
                  </a:extLst>
                </a:gridCol>
                <a:gridCol w="581942">
                  <a:extLst>
                    <a:ext uri="{9D8B030D-6E8A-4147-A177-3AD203B41FA5}">
                      <a16:colId xmlns:a16="http://schemas.microsoft.com/office/drawing/2014/main" val="20001"/>
                    </a:ext>
                  </a:extLst>
                </a:gridCol>
                <a:gridCol w="2909710">
                  <a:extLst>
                    <a:ext uri="{9D8B030D-6E8A-4147-A177-3AD203B41FA5}">
                      <a16:colId xmlns:a16="http://schemas.microsoft.com/office/drawing/2014/main" val="20002"/>
                    </a:ext>
                  </a:extLst>
                </a:gridCol>
                <a:gridCol w="1163885">
                  <a:extLst>
                    <a:ext uri="{9D8B030D-6E8A-4147-A177-3AD203B41FA5}">
                      <a16:colId xmlns:a16="http://schemas.microsoft.com/office/drawing/2014/main" val="20003"/>
                    </a:ext>
                  </a:extLst>
                </a:gridCol>
              </a:tblGrid>
              <a:tr h="478118">
                <a:tc>
                  <a:txBody>
                    <a:bodyPr/>
                    <a:lstStyle/>
                    <a:p>
                      <a:pPr algn="ctr">
                        <a:lnSpc>
                          <a:spcPts val="2000"/>
                        </a:lnSpc>
                        <a:spcAft>
                          <a:spcPts val="0"/>
                        </a:spcAft>
                      </a:pPr>
                      <a:r>
                        <a:rPr lang="zh-CN" sz="1200" kern="100" dirty="0">
                          <a:latin typeface="Times New Roman"/>
                          <a:ea typeface="新宋体"/>
                          <a:cs typeface="Times New Roman"/>
                        </a:rPr>
                        <a:t>评审项目</a:t>
                      </a:r>
                      <a:endParaRPr lang="zh-CN" sz="1200" kern="100" dirty="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100">
                          <a:latin typeface="Times New Roman"/>
                          <a:ea typeface="新宋体"/>
                          <a:cs typeface="Times New Roman"/>
                        </a:rPr>
                        <a:t>权重</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100" dirty="0">
                          <a:latin typeface="Times New Roman"/>
                          <a:ea typeface="新宋体"/>
                          <a:cs typeface="Times New Roman"/>
                        </a:rPr>
                        <a:t>评审内容</a:t>
                      </a:r>
                      <a:endParaRPr lang="zh-CN" sz="1200" kern="100" dirty="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100">
                          <a:latin typeface="Times New Roman"/>
                          <a:ea typeface="新宋体"/>
                          <a:cs typeface="Times New Roman"/>
                        </a:rPr>
                        <a:t>得分</a:t>
                      </a:r>
                      <a:endParaRPr lang="zh-CN" sz="1200" kern="100">
                        <a:latin typeface="Times New Roman"/>
                        <a:ea typeface="宋体"/>
                        <a:cs typeface="Times New Roman"/>
                      </a:endParaRPr>
                    </a:p>
                    <a:p>
                      <a:pPr algn="ctr">
                        <a:lnSpc>
                          <a:spcPts val="2000"/>
                        </a:lnSpc>
                        <a:spcAft>
                          <a:spcPts val="0"/>
                        </a:spcAft>
                      </a:pPr>
                      <a:r>
                        <a:rPr lang="zh-CN" sz="1200" kern="100">
                          <a:latin typeface="Times New Roman"/>
                          <a:ea typeface="新宋体"/>
                          <a:cs typeface="Times New Roman"/>
                        </a:rPr>
                        <a:t>（百分制）</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7176">
                <a:tc>
                  <a:txBody>
                    <a:bodyPr/>
                    <a:lstStyle/>
                    <a:p>
                      <a:pPr algn="just">
                        <a:lnSpc>
                          <a:spcPts val="2000"/>
                        </a:lnSpc>
                        <a:spcAft>
                          <a:spcPts val="0"/>
                        </a:spcAft>
                      </a:pPr>
                      <a:r>
                        <a:rPr lang="zh-CN" sz="1200" kern="100">
                          <a:latin typeface="Times New Roman"/>
                          <a:ea typeface="新宋体"/>
                          <a:cs typeface="Times New Roman"/>
                        </a:rPr>
                        <a:t>一、选题与文献综述</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100">
                          <a:latin typeface="新宋体"/>
                          <a:ea typeface="宋体"/>
                          <a:cs typeface="Times New Roman"/>
                        </a:rPr>
                        <a:t>20%</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zh-CN" sz="1200" kern="100" dirty="0">
                          <a:latin typeface="Times New Roman"/>
                          <a:ea typeface="新宋体"/>
                          <a:cs typeface="Times New Roman"/>
                        </a:rPr>
                        <a:t>直接来源于一线实际工程项目；对国内外文献资料的阅读量、分析与综述水平。</a:t>
                      </a:r>
                      <a:endParaRPr lang="zh-CN" sz="1200" kern="100" dirty="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8118">
                <a:tc>
                  <a:txBody>
                    <a:bodyPr/>
                    <a:lstStyle/>
                    <a:p>
                      <a:pPr algn="just">
                        <a:lnSpc>
                          <a:spcPts val="2000"/>
                        </a:lnSpc>
                        <a:spcAft>
                          <a:spcPts val="0"/>
                        </a:spcAft>
                      </a:pPr>
                      <a:r>
                        <a:rPr lang="zh-CN" sz="1200" kern="100">
                          <a:latin typeface="Times New Roman"/>
                          <a:ea typeface="新宋体"/>
                          <a:cs typeface="Times New Roman"/>
                        </a:rPr>
                        <a:t>二、技术难度与工作量</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100">
                          <a:latin typeface="新宋体"/>
                          <a:ea typeface="宋体"/>
                          <a:cs typeface="Times New Roman"/>
                        </a:rPr>
                        <a:t>20%</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zh-CN" sz="1200" kern="100">
                          <a:latin typeface="Times New Roman"/>
                          <a:ea typeface="新宋体"/>
                          <a:cs typeface="Times New Roman"/>
                        </a:rPr>
                        <a:t>一定的技术难度，论文实际工作量不少于一年。</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17176">
                <a:tc>
                  <a:txBody>
                    <a:bodyPr/>
                    <a:lstStyle/>
                    <a:p>
                      <a:pPr algn="just">
                        <a:lnSpc>
                          <a:spcPts val="2000"/>
                        </a:lnSpc>
                        <a:spcAft>
                          <a:spcPts val="0"/>
                        </a:spcAft>
                      </a:pPr>
                      <a:r>
                        <a:rPr lang="zh-CN" sz="1200" kern="100">
                          <a:latin typeface="Times New Roman"/>
                          <a:ea typeface="新宋体"/>
                          <a:cs typeface="Times New Roman"/>
                        </a:rPr>
                        <a:t>三、数据收集、理论建模与分析</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100">
                          <a:latin typeface="新宋体"/>
                          <a:ea typeface="宋体"/>
                          <a:cs typeface="Times New Roman"/>
                        </a:rPr>
                        <a:t>30%</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zh-CN" sz="1200" kern="100">
                          <a:latin typeface="Times New Roman"/>
                          <a:ea typeface="新宋体"/>
                          <a:cs typeface="Times New Roman"/>
                        </a:rPr>
                        <a:t>数据样本充分、可靠、数据获取与处理方法正确；理论建模与分析方法科学正确。</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56235">
                <a:tc>
                  <a:txBody>
                    <a:bodyPr/>
                    <a:lstStyle/>
                    <a:p>
                      <a:pPr algn="just">
                        <a:lnSpc>
                          <a:spcPts val="2000"/>
                        </a:lnSpc>
                        <a:spcAft>
                          <a:spcPts val="0"/>
                        </a:spcAft>
                      </a:pPr>
                      <a:r>
                        <a:rPr lang="zh-CN" sz="1200" kern="100">
                          <a:latin typeface="Times New Roman"/>
                          <a:ea typeface="新宋体"/>
                          <a:cs typeface="Times New Roman"/>
                        </a:rPr>
                        <a:t>四、知识水平与成果评价</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100">
                          <a:latin typeface="新宋体"/>
                          <a:ea typeface="宋体"/>
                          <a:cs typeface="Times New Roman"/>
                        </a:rPr>
                        <a:t>20%</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zh-CN" sz="1200" kern="100" dirty="0">
                          <a:latin typeface="Times New Roman"/>
                          <a:ea typeface="新宋体"/>
                          <a:cs typeface="Times New Roman"/>
                        </a:rPr>
                        <a:t>现代工程管理理论与分析方法的运用；综合运用基础理论和专业知识、系统解决工程管理实际问题的水平；作者在实际工程管理中的参与程度。</a:t>
                      </a:r>
                      <a:endParaRPr lang="zh-CN" sz="1200" kern="100" dirty="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8118">
                <a:tc>
                  <a:txBody>
                    <a:bodyPr/>
                    <a:lstStyle/>
                    <a:p>
                      <a:pPr algn="just">
                        <a:lnSpc>
                          <a:spcPts val="2000"/>
                        </a:lnSpc>
                        <a:spcAft>
                          <a:spcPts val="0"/>
                        </a:spcAft>
                      </a:pPr>
                      <a:r>
                        <a:rPr lang="zh-CN" sz="1200" kern="100">
                          <a:latin typeface="Times New Roman"/>
                          <a:ea typeface="新宋体"/>
                          <a:cs typeface="Times New Roman"/>
                        </a:rPr>
                        <a:t>五、论文写作</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100">
                          <a:latin typeface="新宋体"/>
                          <a:ea typeface="宋体"/>
                          <a:cs typeface="Times New Roman"/>
                        </a:rPr>
                        <a:t>10%</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zh-CN" sz="1200" kern="100">
                          <a:latin typeface="Times New Roman"/>
                          <a:ea typeface="新宋体"/>
                          <a:cs typeface="Times New Roman"/>
                        </a:rPr>
                        <a:t>论文的系统性、逻辑性、图文规范和写作水平。</a:t>
                      </a:r>
                      <a:endParaRPr lang="zh-CN" sz="1200" kern="100">
                        <a:latin typeface="Times New Roman"/>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39059">
                <a:tc>
                  <a:txBody>
                    <a:bodyPr/>
                    <a:lstStyle/>
                    <a:p>
                      <a:pPr algn="ctr">
                        <a:lnSpc>
                          <a:spcPts val="2000"/>
                        </a:lnSpc>
                        <a:spcAft>
                          <a:spcPts val="0"/>
                        </a:spcAft>
                      </a:pPr>
                      <a:r>
                        <a:rPr lang="zh-CN" sz="1200" kern="100">
                          <a:latin typeface="Times New Roman"/>
                          <a:ea typeface="新宋体"/>
                          <a:cs typeface="Times New Roman"/>
                        </a:rPr>
                        <a:t>加权总分（不必计算）</a:t>
                      </a:r>
                      <a:endParaRPr lang="zh-CN" sz="1200" kern="100">
                        <a:latin typeface="Times New Roman"/>
                        <a:ea typeface="宋体"/>
                        <a:cs typeface="Times New Roman"/>
                      </a:endParaRPr>
                    </a:p>
                  </a:txBody>
                  <a:tcPr marL="64546" marR="6454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endParaRPr lang="en-US" sz="1200" kern="100" dirty="0">
                        <a:latin typeface="新宋体"/>
                        <a:ea typeface="宋体"/>
                        <a:cs typeface="Times New Roman"/>
                      </a:endParaRPr>
                    </a:p>
                  </a:txBody>
                  <a:tcPr marL="64546" marR="6454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b="1" dirty="0"/>
              <a:t>AMJ</a:t>
            </a:r>
            <a:r>
              <a:rPr lang="zh-CN" altLang="en-US" sz="4000" b="1" dirty="0"/>
              <a:t>期刊对高质量论文的要求</a:t>
            </a:r>
          </a:p>
        </p:txBody>
      </p:sp>
      <p:grpSp>
        <p:nvGrpSpPr>
          <p:cNvPr id="6" name="组合 5"/>
          <p:cNvGrpSpPr/>
          <p:nvPr/>
        </p:nvGrpSpPr>
        <p:grpSpPr>
          <a:xfrm>
            <a:off x="1331640" y="1484784"/>
            <a:ext cx="6192688" cy="4306184"/>
            <a:chOff x="1331640" y="1484784"/>
            <a:chExt cx="6192688" cy="4306184"/>
          </a:xfrm>
        </p:grpSpPr>
        <p:pic>
          <p:nvPicPr>
            <p:cNvPr id="4" name="图片 3"/>
            <p:cNvPicPr/>
            <p:nvPr/>
          </p:nvPicPr>
          <p:blipFill>
            <a:blip r:embed="rId3" cstate="print"/>
            <a:srcRect/>
            <a:stretch>
              <a:fillRect/>
            </a:stretch>
          </p:blipFill>
          <p:spPr bwMode="auto">
            <a:xfrm>
              <a:off x="1331640" y="1484784"/>
              <a:ext cx="6192688" cy="4306184"/>
            </a:xfrm>
            <a:prstGeom prst="rect">
              <a:avLst/>
            </a:prstGeom>
            <a:noFill/>
            <a:ln w="9525">
              <a:noFill/>
              <a:miter lim="800000"/>
              <a:headEnd/>
              <a:tailEnd/>
            </a:ln>
          </p:spPr>
        </p:pic>
        <p:sp>
          <p:nvSpPr>
            <p:cNvPr id="5" name="矩形 4"/>
            <p:cNvSpPr/>
            <p:nvPr/>
          </p:nvSpPr>
          <p:spPr>
            <a:xfrm>
              <a:off x="1603680" y="5439112"/>
              <a:ext cx="309634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8417</TotalTime>
  <Words>3294</Words>
  <Application>Microsoft Office PowerPoint</Application>
  <PresentationFormat>全屏显示(4:3)</PresentationFormat>
  <Paragraphs>171</Paragraphs>
  <Slides>20</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楷体</vt:lpstr>
      <vt:lpstr>宋体</vt:lpstr>
      <vt:lpstr>新宋体</vt:lpstr>
      <vt:lpstr>Arial</vt:lpstr>
      <vt:lpstr>Calibri</vt:lpstr>
      <vt:lpstr>Times New Roman</vt:lpstr>
      <vt:lpstr>Office 主题</vt:lpstr>
      <vt:lpstr>工程管理硕士专业学位论文基本要求和评价指标体系</vt:lpstr>
      <vt:lpstr>本章要点</vt:lpstr>
      <vt:lpstr>工程管理硕士专业的特征</vt:lpstr>
      <vt:lpstr>全国教指委对MEM专业学位提出的基本能力要求</vt:lpstr>
      <vt:lpstr>工程管理硕士专业学位论文研究目的</vt:lpstr>
      <vt:lpstr>工程管理硕士专业学位论文的要求</vt:lpstr>
      <vt:lpstr>工程管理硕士专业学位论文的要求</vt:lpstr>
      <vt:lpstr>工程管理硕士专业学位论文的主要形式</vt:lpstr>
      <vt:lpstr>PowerPoint 演示文稿</vt:lpstr>
      <vt:lpstr>PowerPoint 演示文稿</vt:lpstr>
      <vt:lpstr>共同要求</vt:lpstr>
      <vt:lpstr>全国教指委文件要求工程管理专题研究类论文：</vt:lpstr>
      <vt:lpstr>PowerPoint 演示文稿</vt:lpstr>
      <vt:lpstr>全国教指委文件指出：</vt:lpstr>
      <vt:lpstr>全国教指委文件指出：</vt:lpstr>
      <vt:lpstr>评价指标</vt:lpstr>
      <vt:lpstr>PowerPoint 演示文稿</vt:lpstr>
      <vt:lpstr>PowerPoint 演示文稿</vt:lpstr>
      <vt:lpstr>评价指标</vt:lpstr>
      <vt:lpstr>AMJ期刊对高质量论文的要求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上海市工程管理硕士专业学位论文基本要求和评价指标体系</dc:title>
  <dc:creator>DXM</dc:creator>
  <cp:lastModifiedBy>HLX</cp:lastModifiedBy>
  <cp:revision>61</cp:revision>
  <dcterms:created xsi:type="dcterms:W3CDTF">2019-08-24T12:38:43Z</dcterms:created>
  <dcterms:modified xsi:type="dcterms:W3CDTF">2025-09-11T12:03:33Z</dcterms:modified>
</cp:coreProperties>
</file>